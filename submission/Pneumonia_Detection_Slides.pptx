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problem: given a chest X-ray, say whether it shows pneumonia and show where. Mention both team members and who built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imbalance matters: a model that always says pneumonia would get 70%+ accuracy. That's why we use class weights and look at recall and F1. Patient-level split avoids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ready for: why transfer learning (small data), why class weights (imbalance), why not a detector (no box labels in this dataset; would need RSNA).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repo structure. Say who wrote which part. Mention the repo is private and shared with faculty and 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precision 0.95, recall 0.95. PNEUMONIA: precision 0.98, recall 0.98. 878 test images, split by patient. Don't claim clinical readiness: single pediatric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X-ray, bottom row the heatmap. Be honest that Grad-CAM is coarse and we did not score it against ground-truth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app live: python app/app.py --share. Upload one pneumonia and one normal image from demo_images. Keep the screen recording ready as a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Q&amp;A: why not accuracy alone, how is leakage avoided, what would you change with more time, how does Grad-CAM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33"/>
        </a:solidFill>
      </p:bgPr>
    </p:bg>
    <p:spTree>
      <p:nvGrpSpPr>
        <p:cNvPr id="1" name=""/>
        <p:cNvGrpSpPr/>
        <p:nvPr/>
      </p:nvGrpSpPr>
      <p:grpSpPr>
        <a:xfrm>
          <a:off x="0" y="0"/>
          <a:ext cx="0" cy="0"/>
          <a:chOff x="0" y="0"/>
          <a:chExt cx="0" cy="0"/>
        </a:xfrm>
      </p:grpSpPr>
      <p:sp>
        <p:nvSpPr>
          <p:cNvPr id="2" name="Text 0"/>
          <p:cNvSpPr txBox="1"/>
          <p:nvPr/>
        </p:nvSpPr>
        <p:spPr>
          <a:xfrm>
            <a:off x="548640" y="502920"/>
            <a:ext cx="5120640" cy="274320"/>
          </a:xfrm>
          <a:prstGeom prst="rect">
            <a:avLst/>
          </a:prstGeom>
          <a:noFill/>
          <a:ln/>
        </p:spPr>
        <p:txBody>
          <a:bodyPr wrap="square" lIns="0" tIns="0" rIns="0" bIns="0" rtlCol="0" anchor="ctr"/>
          <a:lstStyle/>
          <a:p>
            <a:pPr indent="0" marL="0">
              <a:buNone/>
            </a:pPr>
            <a:r>
              <a:rPr lang="en-US" sz="1100" b="1" spc="200" kern="0" dirty="0">
                <a:solidFill>
                  <a:srgbClr val="8FB3BC"/>
                </a:solidFill>
                <a:latin typeface="Calibri" pitchFamily="34" charset="0"/>
                <a:ea typeface="Calibri" pitchFamily="34" charset="-122"/>
                <a:cs typeface="Calibri" pitchFamily="34" charset="-120"/>
              </a:rPr>
              <a:t>UE24CS352A  MACHINE LEARNING  ·  MINI-PROJECT 34</a:t>
            </a:r>
            <a:endParaRPr lang="en-US" sz="1100" dirty="0"/>
          </a:p>
        </p:txBody>
      </p:sp>
      <p:sp>
        <p:nvSpPr>
          <p:cNvPr id="3" name="Text 1"/>
          <p:cNvSpPr txBox="1"/>
          <p:nvPr/>
        </p:nvSpPr>
        <p:spPr>
          <a:xfrm>
            <a:off x="548640" y="1097280"/>
            <a:ext cx="4754880" cy="173736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Pneumonia Diagnosis Detection and Localization</a:t>
            </a:r>
            <a:endParaRPr lang="en-US" sz="3800" dirty="0"/>
          </a:p>
        </p:txBody>
      </p:sp>
      <p:sp>
        <p:nvSpPr>
          <p:cNvPr id="4" name="Text 2"/>
          <p:cNvSpPr txBox="1"/>
          <p:nvPr/>
        </p:nvSpPr>
        <p:spPr>
          <a:xfrm>
            <a:off x="548640" y="2926080"/>
            <a:ext cx="4572000" cy="640080"/>
          </a:xfrm>
          <a:prstGeom prst="rect">
            <a:avLst/>
          </a:prstGeom>
          <a:noFill/>
          <a:ln/>
        </p:spPr>
        <p:txBody>
          <a:bodyPr wrap="square" lIns="0" tIns="0" rIns="0" bIns="0" rtlCol="0" anchor="t"/>
          <a:lstStyle/>
          <a:p>
            <a:pPr indent="0" marL="0">
              <a:buNone/>
            </a:pPr>
            <a:r>
              <a:rPr lang="en-US" sz="1600" dirty="0">
                <a:solidFill>
                  <a:srgbClr val="CADFE4"/>
                </a:solidFill>
                <a:latin typeface="Calibri" pitchFamily="34" charset="0"/>
                <a:ea typeface="Calibri" pitchFamily="34" charset="-122"/>
                <a:cs typeface="Calibri" pitchFamily="34" charset="-120"/>
              </a:rPr>
              <a:t>Chest X-ray classification with DenseNet121, localized with Grad-CAM</a:t>
            </a:r>
            <a:endParaRPr lang="en-US" sz="1600" dirty="0"/>
          </a:p>
        </p:txBody>
      </p:sp>
      <p:sp>
        <p:nvSpPr>
          <p:cNvPr id="5" name="Text 3"/>
          <p:cNvSpPr txBox="1"/>
          <p:nvPr/>
        </p:nvSpPr>
        <p:spPr>
          <a:xfrm>
            <a:off x="548640" y="4297680"/>
            <a:ext cx="4754880" cy="2743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[Name 1, SRN]   ·   [Name 2, SRN]</a:t>
            </a:r>
            <a:endParaRPr lang="en-US" sz="1300" dirty="0"/>
          </a:p>
        </p:txBody>
      </p:sp>
      <p:pic>
        <p:nvPicPr>
          <p:cNvPr id="6" name="Image 0" descr="xray_crop.png">    </p:cNvPr>
          <p:cNvPicPr>
            <a:picLocks noChangeAspect="1"/>
          </p:cNvPicPr>
          <p:nvPr/>
        </p:nvPicPr>
        <p:blipFill>
          <a:blip r:embed="rId1"/>
          <a:stretch>
            <a:fillRect/>
          </a:stretch>
        </p:blipFill>
        <p:spPr>
          <a:xfrm>
            <a:off x="5623560" y="685800"/>
            <a:ext cx="1545336" cy="1682496"/>
          </a:xfrm>
          <a:prstGeom prst="ellipse">
            <a:avLst/>
          </a:prstGeom>
        </p:spPr>
      </p:pic>
      <p:pic>
        <p:nvPicPr>
          <p:cNvPr id="7" name="Image 1" descr="heat_crop.png">    </p:cNvPr>
          <p:cNvPicPr>
            <a:picLocks noChangeAspect="1"/>
          </p:cNvPicPr>
          <p:nvPr/>
        </p:nvPicPr>
        <p:blipFill>
          <a:blip r:embed="rId2"/>
          <a:stretch>
            <a:fillRect/>
          </a:stretch>
        </p:blipFill>
        <p:spPr>
          <a:xfrm>
            <a:off x="7269480" y="685800"/>
            <a:ext cx="1545336" cy="1682496"/>
          </a:xfrm>
          <a:prstGeom prst="ellipse">
            <a:avLst/>
          </a:prstGeom>
        </p:spPr>
      </p:pic>
      <p:sp>
        <p:nvSpPr>
          <p:cNvPr id="8" name="Text 4"/>
          <p:cNvSpPr txBox="1"/>
          <p:nvPr/>
        </p:nvSpPr>
        <p:spPr>
          <a:xfrm>
            <a:off x="5623560" y="2423160"/>
            <a:ext cx="1545336" cy="228600"/>
          </a:xfrm>
          <a:prstGeom prst="rect">
            <a:avLst/>
          </a:prstGeom>
          <a:noFill/>
          <a:ln/>
        </p:spPr>
        <p:txBody>
          <a:bodyPr wrap="square" lIns="0" tIns="0" rIns="0" bIns="0" rtlCol="0" anchor="ctr"/>
          <a:lstStyle/>
          <a:p>
            <a:pPr algn="ctr" indent="0" marL="0">
              <a:buNone/>
            </a:pPr>
            <a:r>
              <a:rPr lang="en-US" sz="1100" dirty="0">
                <a:solidFill>
                  <a:srgbClr val="8FB3BC"/>
                </a:solidFill>
                <a:latin typeface="Calibri" pitchFamily="34" charset="0"/>
                <a:ea typeface="Calibri" pitchFamily="34" charset="-122"/>
                <a:cs typeface="Calibri" pitchFamily="34" charset="-120"/>
              </a:rPr>
              <a:t>Input X-ray</a:t>
            </a:r>
            <a:endParaRPr lang="en-US" sz="1100" dirty="0"/>
          </a:p>
        </p:txBody>
      </p:sp>
      <p:sp>
        <p:nvSpPr>
          <p:cNvPr id="9" name="Text 5"/>
          <p:cNvSpPr txBox="1"/>
          <p:nvPr/>
        </p:nvSpPr>
        <p:spPr>
          <a:xfrm>
            <a:off x="7269480" y="2423160"/>
            <a:ext cx="1545336" cy="228600"/>
          </a:xfrm>
          <a:prstGeom prst="rect">
            <a:avLst/>
          </a:prstGeom>
          <a:noFill/>
          <a:ln/>
        </p:spPr>
        <p:txBody>
          <a:bodyPr wrap="square" lIns="0" tIns="0" rIns="0" bIns="0" rtlCol="0" anchor="ctr"/>
          <a:lstStyle/>
          <a:p>
            <a:pPr algn="ctr" indent="0" marL="0">
              <a:buNone/>
            </a:pPr>
            <a:r>
              <a:rPr lang="en-US" sz="1100" dirty="0">
                <a:solidFill>
                  <a:srgbClr val="8FB3BC"/>
                </a:solidFill>
                <a:latin typeface="Calibri" pitchFamily="34" charset="0"/>
                <a:ea typeface="Calibri" pitchFamily="34" charset="-122"/>
                <a:cs typeface="Calibri" pitchFamily="34" charset="-120"/>
              </a:rPr>
              <a:t>Where the model looks</a:t>
            </a:r>
            <a:endParaRPr lang="en-US" sz="1100" dirty="0"/>
          </a:p>
        </p:txBody>
      </p:sp>
      <p:sp>
        <p:nvSpPr>
          <p:cNvPr id="10" name="Text 6"/>
          <p:cNvSpPr txBox="1"/>
          <p:nvPr/>
        </p:nvSpPr>
        <p:spPr>
          <a:xfrm>
            <a:off x="5623560" y="3063240"/>
            <a:ext cx="3200400" cy="1371600"/>
          </a:xfrm>
          <a:prstGeom prst="rect">
            <a:avLst/>
          </a:prstGeom>
          <a:noFill/>
          <a:ln/>
        </p:spPr>
        <p:txBody>
          <a:bodyPr wrap="square" lIns="0" tIns="0" rIns="0" bIns="0" rtlCol="0" anchor="t"/>
          <a:lstStyle/>
          <a:p>
            <a:pPr indent="0" marL="0">
              <a:buNone/>
            </a:pPr>
            <a:r>
              <a:rPr lang="en-US" sz="5400" b="1" dirty="0">
                <a:solidFill>
                  <a:srgbClr val="E8624A"/>
                </a:solidFill>
                <a:latin typeface="Cambria" pitchFamily="34" charset="0"/>
                <a:ea typeface="Cambria" pitchFamily="34" charset="-122"/>
                <a:cs typeface="Cambria" pitchFamily="34" charset="-120"/>
              </a:rPr>
              <a:t>97.2%</a:t>
            </a:r>
            <a:endParaRPr lang="en-US" sz="5400" dirty="0"/>
          </a:p>
          <a:p>
            <a:pPr indent="0" marL="0">
              <a:buNone/>
            </a:pPr>
            <a:r>
              <a:rPr lang="en-US" sz="1400" dirty="0">
                <a:solidFill>
                  <a:srgbClr val="FFFFFF"/>
                </a:solidFill>
                <a:latin typeface="Calibri" pitchFamily="34" charset="0"/>
                <a:ea typeface="Calibri" pitchFamily="34" charset="-122"/>
                <a:cs typeface="Calibri" pitchFamily="34" charset="-120"/>
              </a:rPr>
              <a:t>test accuracy  ·  0.996 ROC-AUC</a:t>
            </a:r>
            <a:endParaRPr lang="en-US" sz="5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0F2A33"/>
                </a:solidFill>
                <a:latin typeface="Cambria" pitchFamily="34" charset="0"/>
                <a:ea typeface="Cambria" pitchFamily="34" charset="-122"/>
                <a:cs typeface="Cambria" pitchFamily="34" charset="-120"/>
              </a:rPr>
              <a:t>Problem and dataset</a:t>
            </a:r>
            <a:endParaRPr lang="en-US" sz="3200" dirty="0"/>
          </a:p>
        </p:txBody>
      </p:sp>
      <p:sp>
        <p:nvSpPr>
          <p:cNvPr id="3" name="Text 1"/>
          <p:cNvSpPr txBox="1"/>
          <p:nvPr/>
        </p:nvSpPr>
        <p:spPr>
          <a:xfrm>
            <a:off x="548640" y="1005840"/>
            <a:ext cx="4206240" cy="822960"/>
          </a:xfrm>
          <a:prstGeom prst="rect">
            <a:avLst/>
          </a:prstGeom>
          <a:noFill/>
          <a:ln/>
        </p:spPr>
        <p:txBody>
          <a:bodyPr wrap="square" lIns="0" tIns="0" rIns="0" bIns="0" rtlCol="0" anchor="t"/>
          <a:lstStyle/>
          <a:p>
            <a:pPr indent="0" marL="0">
              <a:buNone/>
            </a:pPr>
            <a:r>
              <a:rPr lang="en-US" sz="1600" dirty="0">
                <a:solidFill>
                  <a:srgbClr val="1B2B30"/>
                </a:solidFill>
                <a:latin typeface="Calibri" pitchFamily="34" charset="0"/>
                <a:ea typeface="Calibri" pitchFamily="34" charset="-122"/>
                <a:cs typeface="Calibri" pitchFamily="34" charset="-120"/>
              </a:rPr>
              <a:t>Detect pneumonia in a chest X-ray and highlight the region behind the decision.</a:t>
            </a:r>
            <a:endParaRPr lang="en-US" sz="1600" dirty="0"/>
          </a:p>
        </p:txBody>
      </p:sp>
      <p:sp>
        <p:nvSpPr>
          <p:cNvPr id="4" name="Text 2"/>
          <p:cNvSpPr txBox="1"/>
          <p:nvPr/>
        </p:nvSpPr>
        <p:spPr>
          <a:xfrm>
            <a:off x="548640" y="1828800"/>
            <a:ext cx="420624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2B30"/>
                </a:solidFill>
                <a:latin typeface="Calibri" pitchFamily="34" charset="0"/>
                <a:ea typeface="Calibri" pitchFamily="34" charset="-122"/>
                <a:cs typeface="Calibri" pitchFamily="34" charset="-120"/>
              </a:rPr>
              <a:t>Kaggle Chest X-Ray Images (Pneumonia)</a:t>
            </a:r>
            <a:endParaRPr lang="en-US" sz="1400" dirty="0"/>
          </a:p>
          <a:p>
            <a:pPr marL="342900" indent="-342900">
              <a:spcAft>
                <a:spcPts val="800"/>
              </a:spcAft>
              <a:buSzPct val="100000"/>
              <a:buChar char="•"/>
            </a:pPr>
            <a:r>
              <a:rPr lang="en-US" sz="1400" dirty="0">
                <a:solidFill>
                  <a:srgbClr val="1B2B30"/>
                </a:solidFill>
                <a:latin typeface="Calibri" pitchFamily="34" charset="0"/>
                <a:ea typeface="Calibri" pitchFamily="34" charset="-122"/>
                <a:cs typeface="Calibri" pitchFamily="34" charset="-120"/>
              </a:rPr>
              <a:t>5,856 pediatric X-rays, 2 classes</a:t>
            </a:r>
            <a:endParaRPr lang="en-US" sz="1400" dirty="0"/>
          </a:p>
          <a:p>
            <a:pPr marL="342900" indent="-342900">
              <a:spcAft>
                <a:spcPts val="800"/>
              </a:spcAft>
              <a:buSzPct val="100000"/>
              <a:buChar char="•"/>
            </a:pPr>
            <a:r>
              <a:rPr lang="en-US" sz="1400" dirty="0">
                <a:solidFill>
                  <a:srgbClr val="1B2B30"/>
                </a:solidFill>
                <a:latin typeface="Calibri" pitchFamily="34" charset="0"/>
                <a:ea typeface="Calibri" pitchFamily="34" charset="-122"/>
                <a:cs typeface="Calibri" pitchFamily="34" charset="-120"/>
              </a:rPr>
              <a:t>Official val set has only 16 images, so we pooled everything and re-split 70/15/15</a:t>
            </a:r>
            <a:endParaRPr lang="en-US" sz="1400" dirty="0"/>
          </a:p>
          <a:p>
            <a:pPr marL="342900" indent="-342900">
              <a:spcAft>
                <a:spcPts val="800"/>
              </a:spcAft>
              <a:buSzPct val="100000"/>
              <a:buChar char="•"/>
            </a:pPr>
            <a:r>
              <a:rPr lang="en-US" sz="1400" dirty="0">
                <a:solidFill>
                  <a:srgbClr val="1B2B30"/>
                </a:solidFill>
                <a:latin typeface="Calibri" pitchFamily="34" charset="0"/>
                <a:ea typeface="Calibri" pitchFamily="34" charset="-122"/>
                <a:cs typeface="Calibri" pitchFamily="34" charset="-120"/>
              </a:rPr>
              <a:t>Split by patient ID, so no patient is in two splits</a:t>
            </a:r>
            <a:endParaRPr lang="en-US" sz="1400" dirty="0"/>
          </a:p>
        </p:txBody>
      </p:sp>
      <p:sp>
        <p:nvSpPr>
          <p:cNvPr id="5" name="Shape 3"/>
          <p:cNvSpPr/>
          <p:nvPr/>
        </p:nvSpPr>
        <p:spPr>
          <a:xfrm>
            <a:off x="5120640" y="1097280"/>
            <a:ext cx="3474720" cy="2103120"/>
          </a:xfrm>
          <a:prstGeom prst="roundRect">
            <a:avLst>
              <a:gd name="adj" fmla="val 5217"/>
            </a:avLst>
          </a:prstGeom>
          <a:solidFill>
            <a:srgbClr val="EAF3F5"/>
          </a:solidFill>
          <a:ln w="12700">
            <a:solidFill>
              <a:srgbClr val="EAF3F5"/>
            </a:solidFill>
            <a:prstDash val="solid"/>
          </a:ln>
        </p:spPr>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212080" y="1188720"/>
          <a:ext cx="3291840" cy="914400"/>
        </p:xfrm>
        <a:graphic>
          <a:graphicData uri="http://schemas.openxmlformats.org/drawingml/2006/table">
            <a:tbl>
              <a:tblPr/>
              <a:tblGrid>
                <a:gridCol w="914400"/>
                <a:gridCol w="640080"/>
                <a:gridCol w="731520"/>
                <a:gridCol w="1005840"/>
              </a:tblGrid>
              <a:tr h="457200">
                <a:tc>
                  <a:txBody>
                    <a:bodyPr/>
                    <a:lstStyle/>
                    <a:p>
                      <a:pPr algn="l" indent="0" marL="0">
                        <a:buNone/>
                      </a:pPr>
                      <a:r>
                        <a:rPr lang="en-US" sz="1200" b="1" dirty="0">
                          <a:solidFill>
                            <a:srgbClr val="145C6B"/>
                          </a:solidFill>
                          <a:latin typeface="Calibri" pitchFamily="34" charset="0"/>
                          <a:ea typeface="Calibri" pitchFamily="34" charset="-122"/>
                          <a:cs typeface="Calibri" pitchFamily="34" charset="-120"/>
                        </a:rPr>
                        <a:t>Split</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AF3F5"/>
                    </a:solidFill>
                  </a:tcPr>
                </a:tc>
                <a:tc>
                  <a:txBody>
                    <a:bodyPr/>
                    <a:lstStyle/>
                    <a:p>
                      <a:pPr algn="ctr" indent="0" marL="0">
                        <a:buNone/>
                      </a:pPr>
                      <a:r>
                        <a:rPr lang="en-US" sz="1200" b="1" dirty="0">
                          <a:solidFill>
                            <a:srgbClr val="145C6B"/>
                          </a:solidFill>
                          <a:latin typeface="Calibri" pitchFamily="34" charset="0"/>
                          <a:ea typeface="Calibri" pitchFamily="34" charset="-122"/>
                          <a:cs typeface="Calibri" pitchFamily="34" charset="-120"/>
                        </a:rPr>
                        <a:t>Images</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AF3F5"/>
                    </a:solidFill>
                  </a:tcPr>
                </a:tc>
                <a:tc>
                  <a:txBody>
                    <a:bodyPr/>
                    <a:lstStyle/>
                    <a:p>
                      <a:pPr algn="ctr" indent="0" marL="0">
                        <a:buNone/>
                      </a:pPr>
                      <a:r>
                        <a:rPr lang="en-US" sz="1200" b="1" dirty="0">
                          <a:solidFill>
                            <a:srgbClr val="145C6B"/>
                          </a:solidFill>
                          <a:latin typeface="Calibri" pitchFamily="34" charset="0"/>
                          <a:ea typeface="Calibri" pitchFamily="34" charset="-122"/>
                          <a:cs typeface="Calibri" pitchFamily="34" charset="-120"/>
                        </a:rPr>
                        <a:t>Normal</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AF3F5"/>
                    </a:solidFill>
                  </a:tcPr>
                </a:tc>
                <a:tc>
                  <a:txBody>
                    <a:bodyPr/>
                    <a:lstStyle/>
                    <a:p>
                      <a:pPr algn="ctr" indent="0" marL="0">
                        <a:buNone/>
                      </a:pPr>
                      <a:r>
                        <a:rPr lang="en-US" sz="1200" b="1" dirty="0">
                          <a:solidFill>
                            <a:srgbClr val="145C6B"/>
                          </a:solidFill>
                          <a:latin typeface="Calibri" pitchFamily="34" charset="0"/>
                          <a:ea typeface="Calibri" pitchFamily="34" charset="-122"/>
                          <a:cs typeface="Calibri" pitchFamily="34" charset="-120"/>
                        </a:rPr>
                        <a:t>Pneumonia</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AF3F5"/>
                    </a:solidFill>
                  </a:tcPr>
                </a:tc>
              </a:tr>
              <a:tr h="457200">
                <a:tc>
                  <a:txBody>
                    <a:bodyPr/>
                    <a:lstStyle/>
                    <a:p>
                      <a:pPr algn="l" indent="0" marL="0">
                        <a:buNone/>
                      </a:pPr>
                      <a:r>
                        <a:rPr lang="en-US" sz="1200" dirty="0">
                          <a:solidFill>
                            <a:srgbClr val="1B2B30"/>
                          </a:solidFill>
                          <a:latin typeface="Calibri" pitchFamily="34" charset="0"/>
                          <a:ea typeface="Calibri" pitchFamily="34" charset="-122"/>
                          <a:cs typeface="Calibri" pitchFamily="34" charset="-120"/>
                        </a:rPr>
                        <a:t>Train</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AF3F5"/>
                    </a:solidFill>
                  </a:tcPr>
                </a:tc>
                <a:tc>
                  <a:txBody>
                    <a:bodyPr/>
                    <a:lstStyle/>
                    <a:p>
                      <a:pPr algn="ctr" indent="0" marL="0">
                        <a:buNone/>
                      </a:pPr>
                      <a:r>
                        <a:rPr lang="en-US" sz="1200" dirty="0">
                          <a:solidFill>
                            <a:srgbClr val="1B2B30"/>
                          </a:solidFill>
                          <a:latin typeface="Calibri" pitchFamily="34" charset="0"/>
                          <a:ea typeface="Calibri" pitchFamily="34" charset="-122"/>
                          <a:cs typeface="Calibri" pitchFamily="34" charset="-120"/>
                        </a:rPr>
                        <a:t>4,077</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AF3F5"/>
                    </a:solidFill>
                  </a:tcPr>
                </a:tc>
                <a:tc>
                  <a:txBody>
                    <a:bodyPr/>
                    <a:lstStyle/>
                    <a:p>
                      <a:pPr algn="ctr" indent="0" marL="0">
                        <a:buNone/>
                      </a:pPr>
                      <a:r>
                        <a:rPr lang="en-US" sz="1200" dirty="0">
                          <a:solidFill>
                            <a:srgbClr val="1B2B30"/>
                          </a:solidFill>
                          <a:latin typeface="Calibri" pitchFamily="34" charset="0"/>
                          <a:ea typeface="Calibri" pitchFamily="34" charset="-122"/>
                          <a:cs typeface="Calibri" pitchFamily="34" charset="-120"/>
                        </a:rPr>
                        <a:t>1,061</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AF3F5"/>
                    </a:solidFill>
                  </a:tcPr>
                </a:tc>
                <a:tc>
                  <a:txBody>
                    <a:bodyPr/>
                    <a:lstStyle/>
                    <a:p>
                      <a:pPr algn="ctr" indent="0" marL="0">
                        <a:buNone/>
                      </a:pPr>
                      <a:r>
                        <a:rPr lang="en-US" sz="1200" dirty="0">
                          <a:solidFill>
                            <a:srgbClr val="1B2B30"/>
                          </a:solidFill>
                          <a:latin typeface="Calibri" pitchFamily="34" charset="0"/>
                          <a:ea typeface="Calibri" pitchFamily="34" charset="-122"/>
                          <a:cs typeface="Calibri" pitchFamily="34" charset="-120"/>
                        </a:rPr>
                        <a:t>3,016</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AF3F5"/>
                    </a:solidFill>
                  </a:tcPr>
                </a:tc>
              </a:tr>
              <a:tr h="457200">
                <a:tc>
                  <a:txBody>
                    <a:bodyPr/>
                    <a:lstStyle/>
                    <a:p>
                      <a:pPr algn="l" indent="0" marL="0">
                        <a:buNone/>
                      </a:pPr>
                      <a:r>
                        <a:rPr lang="en-US" sz="1200" dirty="0">
                          <a:solidFill>
                            <a:srgbClr val="1B2B30"/>
                          </a:solidFill>
                          <a:latin typeface="Calibri" pitchFamily="34" charset="0"/>
                          <a:ea typeface="Calibri" pitchFamily="34" charset="-122"/>
                          <a:cs typeface="Calibri" pitchFamily="34" charset="-120"/>
                        </a:rPr>
                        <a:t>Validation</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AF3F5"/>
                    </a:solidFill>
                  </a:tcPr>
                </a:tc>
                <a:tc>
                  <a:txBody>
                    <a:bodyPr/>
                    <a:lstStyle/>
                    <a:p>
                      <a:pPr algn="ctr" indent="0" marL="0">
                        <a:buNone/>
                      </a:pPr>
                      <a:r>
                        <a:rPr lang="en-US" sz="1200" dirty="0">
                          <a:solidFill>
                            <a:srgbClr val="1B2B30"/>
                          </a:solidFill>
                          <a:latin typeface="Calibri" pitchFamily="34" charset="0"/>
                          <a:ea typeface="Calibri" pitchFamily="34" charset="-122"/>
                          <a:cs typeface="Calibri" pitchFamily="34" charset="-120"/>
                        </a:rPr>
                        <a:t>901</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AF3F5"/>
                    </a:solidFill>
                  </a:tcPr>
                </a:tc>
                <a:tc>
                  <a:txBody>
                    <a:bodyPr/>
                    <a:lstStyle/>
                    <a:p>
                      <a:pPr algn="ctr" indent="0" marL="0">
                        <a:buNone/>
                      </a:pPr>
                      <a:r>
                        <a:rPr lang="en-US" sz="1200" dirty="0">
                          <a:solidFill>
                            <a:srgbClr val="1B2B30"/>
                          </a:solidFill>
                          <a:latin typeface="Calibri" pitchFamily="34" charset="0"/>
                          <a:ea typeface="Calibri" pitchFamily="34" charset="-122"/>
                          <a:cs typeface="Calibri" pitchFamily="34" charset="-120"/>
                        </a:rPr>
                        <a:t>258</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AF3F5"/>
                    </a:solidFill>
                  </a:tcPr>
                </a:tc>
                <a:tc>
                  <a:txBody>
                    <a:bodyPr/>
                    <a:lstStyle/>
                    <a:p>
                      <a:pPr algn="ctr" indent="0" marL="0">
                        <a:buNone/>
                      </a:pPr>
                      <a:r>
                        <a:rPr lang="en-US" sz="1200" dirty="0">
                          <a:solidFill>
                            <a:srgbClr val="1B2B30"/>
                          </a:solidFill>
                          <a:latin typeface="Calibri" pitchFamily="34" charset="0"/>
                          <a:ea typeface="Calibri" pitchFamily="34" charset="-122"/>
                          <a:cs typeface="Calibri" pitchFamily="34" charset="-120"/>
                        </a:rPr>
                        <a:t>643</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AF3F5"/>
                    </a:solidFill>
                  </a:tcPr>
                </a:tc>
              </a:tr>
              <a:tr h="457200">
                <a:tc>
                  <a:txBody>
                    <a:bodyPr/>
                    <a:lstStyle/>
                    <a:p>
                      <a:pPr algn="l" indent="0" marL="0">
                        <a:buNone/>
                      </a:pPr>
                      <a:r>
                        <a:rPr lang="en-US" sz="1200" dirty="0">
                          <a:solidFill>
                            <a:srgbClr val="1B2B30"/>
                          </a:solidFill>
                          <a:latin typeface="Calibri" pitchFamily="34" charset="0"/>
                          <a:ea typeface="Calibri" pitchFamily="34" charset="-122"/>
                          <a:cs typeface="Calibri" pitchFamily="34" charset="-120"/>
                        </a:rPr>
                        <a:t>Test</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AF3F5"/>
                    </a:solidFill>
                  </a:tcPr>
                </a:tc>
                <a:tc>
                  <a:txBody>
                    <a:bodyPr/>
                    <a:lstStyle/>
                    <a:p>
                      <a:pPr algn="ctr" indent="0" marL="0">
                        <a:buNone/>
                      </a:pPr>
                      <a:r>
                        <a:rPr lang="en-US" sz="1200" dirty="0">
                          <a:solidFill>
                            <a:srgbClr val="1B2B30"/>
                          </a:solidFill>
                          <a:latin typeface="Calibri" pitchFamily="34" charset="0"/>
                          <a:ea typeface="Calibri" pitchFamily="34" charset="-122"/>
                          <a:cs typeface="Calibri" pitchFamily="34" charset="-120"/>
                        </a:rPr>
                        <a:t>878</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AF3F5"/>
                    </a:solidFill>
                  </a:tcPr>
                </a:tc>
                <a:tc>
                  <a:txBody>
                    <a:bodyPr/>
                    <a:lstStyle/>
                    <a:p>
                      <a:pPr algn="ctr" indent="0" marL="0">
                        <a:buNone/>
                      </a:pPr>
                      <a:r>
                        <a:rPr lang="en-US" sz="1200" dirty="0">
                          <a:solidFill>
                            <a:srgbClr val="1B2B30"/>
                          </a:solidFill>
                          <a:latin typeface="Calibri" pitchFamily="34" charset="0"/>
                          <a:ea typeface="Calibri" pitchFamily="34" charset="-122"/>
                          <a:cs typeface="Calibri" pitchFamily="34" charset="-120"/>
                        </a:rPr>
                        <a:t>264</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AF3F5"/>
                    </a:solidFill>
                  </a:tcPr>
                </a:tc>
                <a:tc>
                  <a:txBody>
                    <a:bodyPr/>
                    <a:lstStyle/>
                    <a:p>
                      <a:pPr algn="ctr" indent="0" marL="0">
                        <a:buNone/>
                      </a:pPr>
                      <a:r>
                        <a:rPr lang="en-US" sz="1200" dirty="0">
                          <a:solidFill>
                            <a:srgbClr val="1B2B30"/>
                          </a:solidFill>
                          <a:latin typeface="Calibri" pitchFamily="34" charset="0"/>
                          <a:ea typeface="Calibri" pitchFamily="34" charset="-122"/>
                          <a:cs typeface="Calibri" pitchFamily="34" charset="-120"/>
                        </a:rPr>
                        <a:t>614</a:t>
                      </a:r>
                      <a:endParaRPr lang="en-US" sz="1200" dirty="0">
                        <a:latin typeface="Calibri" charset="0"/>
                        <a:ea typeface="Calibri" charset="0"/>
                        <a:cs typeface="Calibri" charset="0"/>
                      </a:endParaRPr>
                    </a:p>
                  </a:txBody>
                  <a:tcPr marL="91440" marR="91440" marT="45720" marB="45720">
                    <a:lnL w="0" cap="flat" cmpd="sng" algn="ctr">
                      <a:noFill/>
                    </a:lnL>
                    <a:lnR w="0" cap="flat" cmpd="sng" algn="ctr">
                      <a:noFill/>
                    </a:lnR>
                    <a:lnT w="0" cap="flat" cmpd="sng" algn="ctr">
                      <a:noFill/>
                    </a:lnT>
                    <a:lnB w="0" cap="flat" cmpd="sng" algn="ctr">
                      <a:noFill/>
                    </a:lnB>
                    <a:solidFill>
                      <a:srgbClr val="EAF3F5"/>
                    </a:solidFill>
                  </a:tcPr>
                </a:tc>
              </a:tr>
            </a:tbl>
          </a:graphicData>
        </a:graphic>
      </p:graphicFrame>
      <p:sp>
        <p:nvSpPr>
          <p:cNvPr id="7" name="Text 4"/>
          <p:cNvSpPr txBox="1"/>
          <p:nvPr/>
        </p:nvSpPr>
        <p:spPr>
          <a:xfrm>
            <a:off x="5120640" y="3383280"/>
            <a:ext cx="3474720" cy="1188720"/>
          </a:xfrm>
          <a:prstGeom prst="rect">
            <a:avLst/>
          </a:prstGeom>
          <a:noFill/>
          <a:ln/>
        </p:spPr>
        <p:txBody>
          <a:bodyPr wrap="square" lIns="0" tIns="0" rIns="0" bIns="0" rtlCol="0" anchor="t"/>
          <a:lstStyle/>
          <a:p>
            <a:pPr indent="0" marL="0">
              <a:buNone/>
            </a:pPr>
            <a:r>
              <a:rPr lang="en-US" sz="4400" b="1" dirty="0">
                <a:solidFill>
                  <a:srgbClr val="E8624A"/>
                </a:solidFill>
                <a:latin typeface="Cambria" pitchFamily="34" charset="0"/>
                <a:ea typeface="Cambria" pitchFamily="34" charset="-122"/>
                <a:cs typeface="Cambria" pitchFamily="34" charset="-120"/>
              </a:rPr>
              <a:t>73%</a:t>
            </a:r>
            <a:endParaRPr lang="en-US" sz="4400" dirty="0"/>
          </a:p>
          <a:p>
            <a:pPr indent="0" marL="0">
              <a:buNone/>
            </a:pPr>
            <a:r>
              <a:rPr lang="en-US" sz="1300" dirty="0">
                <a:solidFill>
                  <a:srgbClr val="5C7077"/>
                </a:solidFill>
                <a:latin typeface="Calibri" pitchFamily="34" charset="0"/>
                <a:ea typeface="Calibri" pitchFamily="34" charset="-122"/>
                <a:cs typeface="Calibri" pitchFamily="34" charset="-120"/>
              </a:rPr>
              <a:t>of images are pneumonia, so we use class weights and report recall and F1, not just accuracy</a:t>
            </a:r>
            <a:endParaRPr lang="en-US" sz="4400" dirty="0"/>
          </a:p>
        </p:txBody>
      </p:sp>
      <p:sp>
        <p:nvSpPr>
          <p:cNvPr id="8" name="Text 5"/>
          <p:cNvSpPr txBox="1"/>
          <p:nvPr/>
        </p:nvSpPr>
        <p:spPr>
          <a:xfrm>
            <a:off x="8229600" y="4754880"/>
            <a:ext cx="365760" cy="228600"/>
          </a:xfrm>
          <a:prstGeom prst="rect">
            <a:avLst/>
          </a:prstGeom>
          <a:noFill/>
          <a:ln/>
        </p:spPr>
        <p:txBody>
          <a:bodyPr wrap="square" lIns="0" tIns="0" rIns="0" bIns="0" rtlCol="0" anchor="ctr"/>
          <a:lstStyle/>
          <a:p>
            <a:pPr algn="r" indent="0" marL="0">
              <a:buNone/>
            </a:pPr>
            <a:r>
              <a:rPr lang="en-US" sz="1000" dirty="0">
                <a:solidFill>
                  <a:srgbClr val="5C7077"/>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3F5"/>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0F2A33"/>
                </a:solidFill>
                <a:latin typeface="Cambria" pitchFamily="34" charset="0"/>
                <a:ea typeface="Cambria" pitchFamily="34" charset="-122"/>
                <a:cs typeface="Cambria" pitchFamily="34" charset="-120"/>
              </a:rPr>
              <a:t>Approach</a:t>
            </a:r>
            <a:endParaRPr lang="en-US" sz="3200" dirty="0"/>
          </a:p>
        </p:txBody>
      </p:sp>
      <p:sp>
        <p:nvSpPr>
          <p:cNvPr id="3" name="Shape 1"/>
          <p:cNvSpPr/>
          <p:nvPr/>
        </p:nvSpPr>
        <p:spPr>
          <a:xfrm>
            <a:off x="548640" y="1463040"/>
            <a:ext cx="1828800" cy="2011680"/>
          </a:xfrm>
          <a:prstGeom prst="roundRect">
            <a:avLst>
              <a:gd name="adj" fmla="val 6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685800" y="1627632"/>
            <a:ext cx="420624" cy="420624"/>
          </a:xfrm>
          <a:prstGeom prst="ellipse">
            <a:avLst/>
          </a:prstGeom>
          <a:solidFill>
            <a:srgbClr val="145C6B"/>
          </a:solidFill>
          <a:ln w="12700">
            <a:solidFill>
              <a:srgbClr val="145C6B"/>
            </a:solidFill>
            <a:prstDash val="solid"/>
          </a:ln>
        </p:spPr>
      </p:sp>
      <p:sp>
        <p:nvSpPr>
          <p:cNvPr id="5" name="Text 3"/>
          <p:cNvSpPr txBox="1"/>
          <p:nvPr/>
        </p:nvSpPr>
        <p:spPr>
          <a:xfrm>
            <a:off x="685800" y="16276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685800" y="2176272"/>
            <a:ext cx="1554480" cy="365760"/>
          </a:xfrm>
          <a:prstGeom prst="rect">
            <a:avLst/>
          </a:prstGeom>
          <a:noFill/>
          <a:ln/>
        </p:spPr>
        <p:txBody>
          <a:bodyPr wrap="square" lIns="0" tIns="0" rIns="0" bIns="0" rtlCol="0" anchor="ctr"/>
          <a:lstStyle/>
          <a:p>
            <a:pPr indent="0" marL="0">
              <a:buNone/>
            </a:pPr>
            <a:r>
              <a:rPr lang="en-US" sz="1600" b="1" dirty="0">
                <a:solidFill>
                  <a:srgbClr val="0F2A33"/>
                </a:solidFill>
                <a:latin typeface="Cambria" pitchFamily="34" charset="0"/>
                <a:ea typeface="Cambria" pitchFamily="34" charset="-122"/>
                <a:cs typeface="Cambria" pitchFamily="34" charset="-120"/>
              </a:rPr>
              <a:t>Chest X-ray</a:t>
            </a:r>
            <a:endParaRPr lang="en-US" sz="1600" dirty="0"/>
          </a:p>
        </p:txBody>
      </p:sp>
      <p:sp>
        <p:nvSpPr>
          <p:cNvPr id="7" name="Text 5"/>
          <p:cNvSpPr txBox="1"/>
          <p:nvPr/>
        </p:nvSpPr>
        <p:spPr>
          <a:xfrm>
            <a:off x="685800" y="2560320"/>
            <a:ext cx="1554480" cy="822960"/>
          </a:xfrm>
          <a:prstGeom prst="rect">
            <a:avLst/>
          </a:prstGeom>
          <a:noFill/>
          <a:ln/>
        </p:spPr>
        <p:txBody>
          <a:bodyPr wrap="square" lIns="0" tIns="0" rIns="0" bIns="0" rtlCol="0" anchor="t"/>
          <a:lstStyle/>
          <a:p>
            <a:pPr indent="0" marL="0">
              <a:buNone/>
            </a:pPr>
            <a:r>
              <a:rPr lang="en-US" sz="1200" dirty="0">
                <a:solidFill>
                  <a:srgbClr val="5C7077"/>
                </a:solidFill>
                <a:latin typeface="Calibri" pitchFamily="34" charset="0"/>
                <a:ea typeface="Calibri" pitchFamily="34" charset="-122"/>
                <a:cs typeface="Calibri" pitchFamily="34" charset="-120"/>
              </a:rPr>
              <a:t>Resize 224x224, normalize, light augmentation</a:t>
            </a:r>
            <a:endParaRPr lang="en-US" sz="1200" dirty="0"/>
          </a:p>
        </p:txBody>
      </p:sp>
      <p:sp>
        <p:nvSpPr>
          <p:cNvPr id="8" name="Text 6"/>
          <p:cNvSpPr txBox="1"/>
          <p:nvPr/>
        </p:nvSpPr>
        <p:spPr>
          <a:xfrm>
            <a:off x="2377440" y="2148840"/>
            <a:ext cx="256032" cy="457200"/>
          </a:xfrm>
          <a:prstGeom prst="rect">
            <a:avLst/>
          </a:prstGeom>
          <a:noFill/>
          <a:ln/>
        </p:spPr>
        <p:txBody>
          <a:bodyPr wrap="square" lIns="0" tIns="0" rIns="0" bIns="0" rtlCol="0" anchor="ctr"/>
          <a:lstStyle/>
          <a:p>
            <a:pPr algn="ctr" indent="0" marL="0">
              <a:buNone/>
            </a:pPr>
            <a:r>
              <a:rPr lang="en-US" sz="2800" b="1" dirty="0">
                <a:solidFill>
                  <a:srgbClr val="145C6B"/>
                </a:solidFill>
                <a:latin typeface="Calibri" pitchFamily="34" charset="0"/>
                <a:ea typeface="Calibri" pitchFamily="34" charset="-122"/>
                <a:cs typeface="Calibri" pitchFamily="34" charset="-120"/>
              </a:rPr>
              <a:t>›</a:t>
            </a:r>
            <a:endParaRPr lang="en-US" sz="2800" dirty="0"/>
          </a:p>
        </p:txBody>
      </p:sp>
      <p:sp>
        <p:nvSpPr>
          <p:cNvPr id="9" name="Shape 7"/>
          <p:cNvSpPr/>
          <p:nvPr/>
        </p:nvSpPr>
        <p:spPr>
          <a:xfrm>
            <a:off x="2633472" y="1463040"/>
            <a:ext cx="1828800" cy="2011680"/>
          </a:xfrm>
          <a:prstGeom prst="roundRect">
            <a:avLst>
              <a:gd name="adj" fmla="val 6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0" name="Shape 8"/>
          <p:cNvSpPr/>
          <p:nvPr/>
        </p:nvSpPr>
        <p:spPr>
          <a:xfrm>
            <a:off x="2770632" y="1627632"/>
            <a:ext cx="420624" cy="420624"/>
          </a:xfrm>
          <a:prstGeom prst="ellipse">
            <a:avLst/>
          </a:prstGeom>
          <a:solidFill>
            <a:srgbClr val="145C6B"/>
          </a:solidFill>
          <a:ln w="12700">
            <a:solidFill>
              <a:srgbClr val="145C6B"/>
            </a:solidFill>
            <a:prstDash val="solid"/>
          </a:ln>
        </p:spPr>
      </p:sp>
      <p:sp>
        <p:nvSpPr>
          <p:cNvPr id="11" name="Text 9"/>
          <p:cNvSpPr txBox="1"/>
          <p:nvPr/>
        </p:nvSpPr>
        <p:spPr>
          <a:xfrm>
            <a:off x="2770632" y="16276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2770632" y="2176272"/>
            <a:ext cx="1554480" cy="365760"/>
          </a:xfrm>
          <a:prstGeom prst="rect">
            <a:avLst/>
          </a:prstGeom>
          <a:noFill/>
          <a:ln/>
        </p:spPr>
        <p:txBody>
          <a:bodyPr wrap="square" lIns="0" tIns="0" rIns="0" bIns="0" rtlCol="0" anchor="ctr"/>
          <a:lstStyle/>
          <a:p>
            <a:pPr indent="0" marL="0">
              <a:buNone/>
            </a:pPr>
            <a:r>
              <a:rPr lang="en-US" sz="1600" b="1" dirty="0">
                <a:solidFill>
                  <a:srgbClr val="0F2A33"/>
                </a:solidFill>
                <a:latin typeface="Cambria" pitchFamily="34" charset="0"/>
                <a:ea typeface="Cambria" pitchFamily="34" charset="-122"/>
                <a:cs typeface="Cambria" pitchFamily="34" charset="-120"/>
              </a:rPr>
              <a:t>DenseNet121</a:t>
            </a:r>
            <a:endParaRPr lang="en-US" sz="1600" dirty="0"/>
          </a:p>
        </p:txBody>
      </p:sp>
      <p:sp>
        <p:nvSpPr>
          <p:cNvPr id="13" name="Text 11"/>
          <p:cNvSpPr txBox="1"/>
          <p:nvPr/>
        </p:nvSpPr>
        <p:spPr>
          <a:xfrm>
            <a:off x="2770632" y="2560320"/>
            <a:ext cx="1554480" cy="822960"/>
          </a:xfrm>
          <a:prstGeom prst="rect">
            <a:avLst/>
          </a:prstGeom>
          <a:noFill/>
          <a:ln/>
        </p:spPr>
        <p:txBody>
          <a:bodyPr wrap="square" lIns="0" tIns="0" rIns="0" bIns="0" rtlCol="0" anchor="t"/>
          <a:lstStyle/>
          <a:p>
            <a:pPr indent="0" marL="0">
              <a:buNone/>
            </a:pPr>
            <a:r>
              <a:rPr lang="en-US" sz="1200" dirty="0">
                <a:solidFill>
                  <a:srgbClr val="5C7077"/>
                </a:solidFill>
                <a:latin typeface="Calibri" pitchFamily="34" charset="0"/>
                <a:ea typeface="Calibri" pitchFamily="34" charset="-122"/>
                <a:cs typeface="Calibri" pitchFamily="34" charset="-120"/>
              </a:rPr>
              <a:t>ImageNet-pretrained, fine-tuned end to end</a:t>
            </a:r>
            <a:endParaRPr lang="en-US" sz="1200" dirty="0"/>
          </a:p>
        </p:txBody>
      </p:sp>
      <p:sp>
        <p:nvSpPr>
          <p:cNvPr id="14" name="Text 12"/>
          <p:cNvSpPr txBox="1"/>
          <p:nvPr/>
        </p:nvSpPr>
        <p:spPr>
          <a:xfrm>
            <a:off x="4462272" y="2148840"/>
            <a:ext cx="256032" cy="457200"/>
          </a:xfrm>
          <a:prstGeom prst="rect">
            <a:avLst/>
          </a:prstGeom>
          <a:noFill/>
          <a:ln/>
        </p:spPr>
        <p:txBody>
          <a:bodyPr wrap="square" lIns="0" tIns="0" rIns="0" bIns="0" rtlCol="0" anchor="ctr"/>
          <a:lstStyle/>
          <a:p>
            <a:pPr algn="ctr" indent="0" marL="0">
              <a:buNone/>
            </a:pPr>
            <a:r>
              <a:rPr lang="en-US" sz="2800" b="1" dirty="0">
                <a:solidFill>
                  <a:srgbClr val="145C6B"/>
                </a:solidFill>
                <a:latin typeface="Calibri" pitchFamily="34" charset="0"/>
                <a:ea typeface="Calibri" pitchFamily="34" charset="-122"/>
                <a:cs typeface="Calibri" pitchFamily="34" charset="-120"/>
              </a:rPr>
              <a:t>›</a:t>
            </a:r>
            <a:endParaRPr lang="en-US" sz="2800" dirty="0"/>
          </a:p>
        </p:txBody>
      </p:sp>
      <p:sp>
        <p:nvSpPr>
          <p:cNvPr id="15" name="Shape 13"/>
          <p:cNvSpPr/>
          <p:nvPr/>
        </p:nvSpPr>
        <p:spPr>
          <a:xfrm>
            <a:off x="4718304" y="1463040"/>
            <a:ext cx="1828800" cy="2011680"/>
          </a:xfrm>
          <a:prstGeom prst="roundRect">
            <a:avLst>
              <a:gd name="adj" fmla="val 6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6" name="Shape 14"/>
          <p:cNvSpPr/>
          <p:nvPr/>
        </p:nvSpPr>
        <p:spPr>
          <a:xfrm>
            <a:off x="4855464" y="1627632"/>
            <a:ext cx="420624" cy="420624"/>
          </a:xfrm>
          <a:prstGeom prst="ellipse">
            <a:avLst/>
          </a:prstGeom>
          <a:solidFill>
            <a:srgbClr val="145C6B"/>
          </a:solidFill>
          <a:ln w="12700">
            <a:solidFill>
              <a:srgbClr val="145C6B"/>
            </a:solidFill>
            <a:prstDash val="solid"/>
          </a:ln>
        </p:spPr>
      </p:sp>
      <p:sp>
        <p:nvSpPr>
          <p:cNvPr id="17" name="Text 15"/>
          <p:cNvSpPr txBox="1"/>
          <p:nvPr/>
        </p:nvSpPr>
        <p:spPr>
          <a:xfrm>
            <a:off x="4855464" y="16276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txBox="1"/>
          <p:nvPr/>
        </p:nvSpPr>
        <p:spPr>
          <a:xfrm>
            <a:off x="4855464" y="2176272"/>
            <a:ext cx="1554480" cy="365760"/>
          </a:xfrm>
          <a:prstGeom prst="rect">
            <a:avLst/>
          </a:prstGeom>
          <a:noFill/>
          <a:ln/>
        </p:spPr>
        <p:txBody>
          <a:bodyPr wrap="square" lIns="0" tIns="0" rIns="0" bIns="0" rtlCol="0" anchor="ctr"/>
          <a:lstStyle/>
          <a:p>
            <a:pPr indent="0" marL="0">
              <a:buNone/>
            </a:pPr>
            <a:r>
              <a:rPr lang="en-US" sz="1600" b="1" dirty="0">
                <a:solidFill>
                  <a:srgbClr val="0F2A33"/>
                </a:solidFill>
                <a:latin typeface="Cambria" pitchFamily="34" charset="0"/>
                <a:ea typeface="Cambria" pitchFamily="34" charset="-122"/>
                <a:cs typeface="Cambria" pitchFamily="34" charset="-120"/>
              </a:rPr>
              <a:t>Prediction</a:t>
            </a:r>
            <a:endParaRPr lang="en-US" sz="1600" dirty="0"/>
          </a:p>
        </p:txBody>
      </p:sp>
      <p:sp>
        <p:nvSpPr>
          <p:cNvPr id="19" name="Text 17"/>
          <p:cNvSpPr txBox="1"/>
          <p:nvPr/>
        </p:nvSpPr>
        <p:spPr>
          <a:xfrm>
            <a:off x="4855464" y="2560320"/>
            <a:ext cx="1554480" cy="822960"/>
          </a:xfrm>
          <a:prstGeom prst="rect">
            <a:avLst/>
          </a:prstGeom>
          <a:noFill/>
          <a:ln/>
        </p:spPr>
        <p:txBody>
          <a:bodyPr wrap="square" lIns="0" tIns="0" rIns="0" bIns="0" rtlCol="0" anchor="t"/>
          <a:lstStyle/>
          <a:p>
            <a:pPr indent="0" marL="0">
              <a:buNone/>
            </a:pPr>
            <a:r>
              <a:rPr lang="en-US" sz="1200" dirty="0">
                <a:solidFill>
                  <a:srgbClr val="5C7077"/>
                </a:solidFill>
                <a:latin typeface="Calibri" pitchFamily="34" charset="0"/>
                <a:ea typeface="Calibri" pitchFamily="34" charset="-122"/>
                <a:cs typeface="Calibri" pitchFamily="34" charset="-120"/>
              </a:rPr>
              <a:t>Weighted cross-entropy for imbalance</a:t>
            </a:r>
            <a:endParaRPr lang="en-US" sz="1200" dirty="0"/>
          </a:p>
        </p:txBody>
      </p:sp>
      <p:sp>
        <p:nvSpPr>
          <p:cNvPr id="20" name="Text 18"/>
          <p:cNvSpPr txBox="1"/>
          <p:nvPr/>
        </p:nvSpPr>
        <p:spPr>
          <a:xfrm>
            <a:off x="6547104" y="2148840"/>
            <a:ext cx="256032" cy="457200"/>
          </a:xfrm>
          <a:prstGeom prst="rect">
            <a:avLst/>
          </a:prstGeom>
          <a:noFill/>
          <a:ln/>
        </p:spPr>
        <p:txBody>
          <a:bodyPr wrap="square" lIns="0" tIns="0" rIns="0" bIns="0" rtlCol="0" anchor="ctr"/>
          <a:lstStyle/>
          <a:p>
            <a:pPr algn="ctr" indent="0" marL="0">
              <a:buNone/>
            </a:pPr>
            <a:r>
              <a:rPr lang="en-US" sz="2800" b="1" dirty="0">
                <a:solidFill>
                  <a:srgbClr val="145C6B"/>
                </a:solidFill>
                <a:latin typeface="Calibri" pitchFamily="34" charset="0"/>
                <a:ea typeface="Calibri" pitchFamily="34" charset="-122"/>
                <a:cs typeface="Calibri" pitchFamily="34" charset="-120"/>
              </a:rPr>
              <a:t>›</a:t>
            </a:r>
            <a:endParaRPr lang="en-US" sz="2800" dirty="0"/>
          </a:p>
        </p:txBody>
      </p:sp>
      <p:sp>
        <p:nvSpPr>
          <p:cNvPr id="21" name="Shape 19"/>
          <p:cNvSpPr/>
          <p:nvPr/>
        </p:nvSpPr>
        <p:spPr>
          <a:xfrm>
            <a:off x="6803136" y="1463040"/>
            <a:ext cx="1828800" cy="2011680"/>
          </a:xfrm>
          <a:prstGeom prst="roundRect">
            <a:avLst>
              <a:gd name="adj" fmla="val 60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22" name="Shape 20"/>
          <p:cNvSpPr/>
          <p:nvPr/>
        </p:nvSpPr>
        <p:spPr>
          <a:xfrm>
            <a:off x="6940296" y="1627632"/>
            <a:ext cx="420624" cy="420624"/>
          </a:xfrm>
          <a:prstGeom prst="ellipse">
            <a:avLst/>
          </a:prstGeom>
          <a:solidFill>
            <a:srgbClr val="E8624A"/>
          </a:solidFill>
          <a:ln w="12700">
            <a:solidFill>
              <a:srgbClr val="E8624A"/>
            </a:solidFill>
            <a:prstDash val="solid"/>
          </a:ln>
        </p:spPr>
      </p:sp>
      <p:sp>
        <p:nvSpPr>
          <p:cNvPr id="23" name="Text 21"/>
          <p:cNvSpPr txBox="1"/>
          <p:nvPr/>
        </p:nvSpPr>
        <p:spPr>
          <a:xfrm>
            <a:off x="6940296" y="16276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txBox="1"/>
          <p:nvPr/>
        </p:nvSpPr>
        <p:spPr>
          <a:xfrm>
            <a:off x="6940296" y="2176272"/>
            <a:ext cx="1554480" cy="365760"/>
          </a:xfrm>
          <a:prstGeom prst="rect">
            <a:avLst/>
          </a:prstGeom>
          <a:noFill/>
          <a:ln/>
        </p:spPr>
        <p:txBody>
          <a:bodyPr wrap="square" lIns="0" tIns="0" rIns="0" bIns="0" rtlCol="0" anchor="ctr"/>
          <a:lstStyle/>
          <a:p>
            <a:pPr indent="0" marL="0">
              <a:buNone/>
            </a:pPr>
            <a:r>
              <a:rPr lang="en-US" sz="1600" b="1" dirty="0">
                <a:solidFill>
                  <a:srgbClr val="0F2A33"/>
                </a:solidFill>
                <a:latin typeface="Cambria" pitchFamily="34" charset="0"/>
                <a:ea typeface="Cambria" pitchFamily="34" charset="-122"/>
                <a:cs typeface="Cambria" pitchFamily="34" charset="-120"/>
              </a:rPr>
              <a:t>Grad-CAM</a:t>
            </a:r>
            <a:endParaRPr lang="en-US" sz="1600" dirty="0"/>
          </a:p>
        </p:txBody>
      </p:sp>
      <p:sp>
        <p:nvSpPr>
          <p:cNvPr id="25" name="Text 23"/>
          <p:cNvSpPr txBox="1"/>
          <p:nvPr/>
        </p:nvSpPr>
        <p:spPr>
          <a:xfrm>
            <a:off x="6940296" y="2560320"/>
            <a:ext cx="1554480" cy="822960"/>
          </a:xfrm>
          <a:prstGeom prst="rect">
            <a:avLst/>
          </a:prstGeom>
          <a:noFill/>
          <a:ln/>
        </p:spPr>
        <p:txBody>
          <a:bodyPr wrap="square" lIns="0" tIns="0" rIns="0" bIns="0" rtlCol="0" anchor="t"/>
          <a:lstStyle/>
          <a:p>
            <a:pPr indent="0" marL="0">
              <a:buNone/>
            </a:pPr>
            <a:r>
              <a:rPr lang="en-US" sz="1200" dirty="0">
                <a:solidFill>
                  <a:srgbClr val="5C7077"/>
                </a:solidFill>
                <a:latin typeface="Calibri" pitchFamily="34" charset="0"/>
                <a:ea typeface="Calibri" pitchFamily="34" charset="-122"/>
                <a:cs typeface="Calibri" pitchFamily="34" charset="-120"/>
              </a:rPr>
              <a:t>Heatmap from last conv layer gradients</a:t>
            </a:r>
            <a:endParaRPr lang="en-US" sz="1200" dirty="0"/>
          </a:p>
        </p:txBody>
      </p:sp>
      <p:sp>
        <p:nvSpPr>
          <p:cNvPr id="26" name="Text 24"/>
          <p:cNvSpPr txBox="1"/>
          <p:nvPr/>
        </p:nvSpPr>
        <p:spPr>
          <a:xfrm>
            <a:off x="548640" y="3749040"/>
            <a:ext cx="8046720" cy="731520"/>
          </a:xfrm>
          <a:prstGeom prst="rect">
            <a:avLst/>
          </a:prstGeom>
          <a:noFill/>
          <a:ln/>
        </p:spPr>
        <p:txBody>
          <a:bodyPr wrap="square" lIns="0" tIns="0" rIns="0" bIns="0" rtlCol="0" anchor="t"/>
          <a:lstStyle/>
          <a:p>
            <a:pPr indent="0" marL="0">
              <a:buNone/>
            </a:pPr>
            <a:r>
              <a:rPr lang="en-US" sz="1400" dirty="0">
                <a:solidFill>
                  <a:srgbClr val="1B2B30"/>
                </a:solidFill>
                <a:latin typeface="Calibri" pitchFamily="34" charset="0"/>
                <a:ea typeface="Calibri" pitchFamily="34" charset="-122"/>
                <a:cs typeface="Calibri" pitchFamily="34" charset="-120"/>
              </a:rPr>
              <a:t>Why DenseNet121? Dense connections reuse features, which works well on a few thousand medical images. Why Grad-CAM? This dataset has no bounding boxes, and Grad-CAM needs none.</a:t>
            </a:r>
            <a:endParaRPr lang="en-US" sz="1400" dirty="0"/>
          </a:p>
        </p:txBody>
      </p:sp>
      <p:sp>
        <p:nvSpPr>
          <p:cNvPr id="27" name="Text 25"/>
          <p:cNvSpPr txBox="1"/>
          <p:nvPr/>
        </p:nvSpPr>
        <p:spPr>
          <a:xfrm>
            <a:off x="8229600" y="4754880"/>
            <a:ext cx="365760" cy="228600"/>
          </a:xfrm>
          <a:prstGeom prst="rect">
            <a:avLst/>
          </a:prstGeom>
          <a:noFill/>
          <a:ln/>
        </p:spPr>
        <p:txBody>
          <a:bodyPr wrap="square" lIns="0" tIns="0" rIns="0" bIns="0" rtlCol="0" anchor="ctr"/>
          <a:lstStyle/>
          <a:p>
            <a:pPr algn="r" indent="0" marL="0">
              <a:buNone/>
            </a:pPr>
            <a:r>
              <a:rPr lang="en-US" sz="1000" dirty="0">
                <a:solidFill>
                  <a:srgbClr val="5C7077"/>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0F2A33"/>
                </a:solidFill>
                <a:latin typeface="Cambria" pitchFamily="34" charset="0"/>
                <a:ea typeface="Cambria" pitchFamily="34" charset="-122"/>
                <a:cs typeface="Cambria" pitchFamily="34" charset="-120"/>
              </a:rPr>
              <a:t>Implementation</a:t>
            </a:r>
            <a:endParaRPr lang="en-US" sz="3200" dirty="0"/>
          </a:p>
        </p:txBody>
      </p:sp>
      <p:sp>
        <p:nvSpPr>
          <p:cNvPr id="3" name="Text 1"/>
          <p:cNvSpPr txBox="1"/>
          <p:nvPr/>
        </p:nvSpPr>
        <p:spPr>
          <a:xfrm>
            <a:off x="548640" y="1097280"/>
            <a:ext cx="3840480" cy="320040"/>
          </a:xfrm>
          <a:prstGeom prst="rect">
            <a:avLst/>
          </a:prstGeom>
          <a:noFill/>
          <a:ln/>
        </p:spPr>
        <p:txBody>
          <a:bodyPr wrap="square" lIns="0" tIns="0" rIns="0" bIns="0" rtlCol="0" anchor="ctr"/>
          <a:lstStyle/>
          <a:p>
            <a:pPr indent="0" marL="0">
              <a:buNone/>
            </a:pPr>
            <a:r>
              <a:rPr lang="en-US" sz="1800" b="1" dirty="0">
                <a:solidFill>
                  <a:srgbClr val="145C6B"/>
                </a:solidFill>
                <a:latin typeface="Cambria" pitchFamily="34" charset="0"/>
                <a:ea typeface="Cambria" pitchFamily="34" charset="-122"/>
                <a:cs typeface="Cambria" pitchFamily="34" charset="-120"/>
              </a:rPr>
              <a:t>Training setup</a:t>
            </a:r>
            <a:endParaRPr lang="en-US" sz="1800" dirty="0"/>
          </a:p>
        </p:txBody>
      </p:sp>
      <p:sp>
        <p:nvSpPr>
          <p:cNvPr id="4" name="Text 2"/>
          <p:cNvSpPr txBox="1"/>
          <p:nvPr/>
        </p:nvSpPr>
        <p:spPr>
          <a:xfrm>
            <a:off x="548640" y="1508760"/>
            <a:ext cx="3840480" cy="27432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B30"/>
                </a:solidFill>
                <a:latin typeface="Calibri" pitchFamily="34" charset="0"/>
                <a:ea typeface="Calibri" pitchFamily="34" charset="-122"/>
                <a:cs typeface="Calibri" pitchFamily="34" charset="-120"/>
              </a:rPr>
              <a:t>PyTorch + torchvision, Colab T4 GPU</a:t>
            </a:r>
            <a:endParaRPr lang="en-US" sz="1400" dirty="0"/>
          </a:p>
          <a:p>
            <a:pPr marL="342900" indent="-342900">
              <a:spcAft>
                <a:spcPts val="700"/>
              </a:spcAft>
              <a:buSzPct val="100000"/>
              <a:buChar char="•"/>
            </a:pPr>
            <a:r>
              <a:rPr lang="en-US" sz="1400" dirty="0">
                <a:solidFill>
                  <a:srgbClr val="1B2B30"/>
                </a:solidFill>
                <a:latin typeface="Calibri" pitchFamily="34" charset="0"/>
                <a:ea typeface="Calibri" pitchFamily="34" charset="-122"/>
                <a:cs typeface="Calibri" pitchFamily="34" charset="-120"/>
              </a:rPr>
              <a:t>AdamW, lr 1e-4, cosine schedule</a:t>
            </a:r>
            <a:endParaRPr lang="en-US" sz="1400" dirty="0"/>
          </a:p>
          <a:p>
            <a:pPr marL="342900" indent="-342900">
              <a:spcAft>
                <a:spcPts val="700"/>
              </a:spcAft>
              <a:buSzPct val="100000"/>
              <a:buChar char="•"/>
            </a:pPr>
            <a:r>
              <a:rPr lang="en-US" sz="1400" dirty="0">
                <a:solidFill>
                  <a:srgbClr val="1B2B30"/>
                </a:solidFill>
                <a:latin typeface="Calibri" pitchFamily="34" charset="0"/>
                <a:ea typeface="Calibri" pitchFamily="34" charset="-122"/>
                <a:cs typeface="Calibri" pitchFamily="34" charset="-120"/>
              </a:rPr>
              <a:t>Batch 32, 6 epochs, mixed precision</a:t>
            </a:r>
            <a:endParaRPr lang="en-US" sz="1400" dirty="0"/>
          </a:p>
          <a:p>
            <a:pPr marL="342900" indent="-342900">
              <a:spcAft>
                <a:spcPts val="700"/>
              </a:spcAft>
              <a:buSzPct val="100000"/>
              <a:buChar char="•"/>
            </a:pPr>
            <a:r>
              <a:rPr lang="en-US" sz="1400" dirty="0">
                <a:solidFill>
                  <a:srgbClr val="1B2B30"/>
                </a:solidFill>
                <a:latin typeface="Calibri" pitchFamily="34" charset="0"/>
                <a:ea typeface="Calibri" pitchFamily="34" charset="-122"/>
                <a:cs typeface="Calibri" pitchFamily="34" charset="-120"/>
              </a:rPr>
              <a:t>Augmentation: random crop, rotation up to 10°, brightness/contrast</a:t>
            </a:r>
            <a:endParaRPr lang="en-US" sz="1400" dirty="0"/>
          </a:p>
          <a:p>
            <a:pPr marL="342900" indent="-342900">
              <a:spcAft>
                <a:spcPts val="700"/>
              </a:spcAft>
              <a:buSzPct val="100000"/>
              <a:buChar char="•"/>
            </a:pPr>
            <a:r>
              <a:rPr lang="en-US" sz="1400" dirty="0">
                <a:solidFill>
                  <a:srgbClr val="1B2B30"/>
                </a:solidFill>
                <a:latin typeface="Calibri" pitchFamily="34" charset="0"/>
                <a:ea typeface="Calibri" pitchFamily="34" charset="-122"/>
                <a:cs typeface="Calibri" pitchFamily="34" charset="-120"/>
              </a:rPr>
              <a:t>Best epoch chosen by validation AUC</a:t>
            </a:r>
            <a:endParaRPr lang="en-US" sz="1400" dirty="0"/>
          </a:p>
        </p:txBody>
      </p:sp>
      <p:sp>
        <p:nvSpPr>
          <p:cNvPr id="5" name="Shape 3"/>
          <p:cNvSpPr/>
          <p:nvPr/>
        </p:nvSpPr>
        <p:spPr>
          <a:xfrm>
            <a:off x="4846320" y="1097280"/>
            <a:ext cx="3749040" cy="2651760"/>
          </a:xfrm>
          <a:prstGeom prst="roundRect">
            <a:avLst>
              <a:gd name="adj" fmla="val 4138"/>
            </a:avLst>
          </a:prstGeom>
          <a:solidFill>
            <a:srgbClr val="0F2A33"/>
          </a:solidFill>
          <a:ln w="12700">
            <a:solidFill>
              <a:srgbClr val="0F2A33"/>
            </a:solidFill>
            <a:prstDash val="solid"/>
          </a:ln>
        </p:spPr>
      </p:sp>
      <p:sp>
        <p:nvSpPr>
          <p:cNvPr id="6" name="Text 4"/>
          <p:cNvSpPr txBox="1"/>
          <p:nvPr/>
        </p:nvSpPr>
        <p:spPr>
          <a:xfrm>
            <a:off x="5029200" y="1280160"/>
            <a:ext cx="3383280" cy="2286000"/>
          </a:xfrm>
          <a:prstGeom prst="rect">
            <a:avLst/>
          </a:prstGeom>
          <a:noFill/>
          <a:ln/>
        </p:spPr>
        <p:txBody>
          <a:bodyPr wrap="square" lIns="0" tIns="0" rIns="0" bIns="0" rtlCol="0" anchor="t"/>
          <a:lstStyle/>
          <a:p>
            <a:pPr indent="0" marL="0">
              <a:buNone/>
            </a:pPr>
            <a:r>
              <a:rPr lang="en-US" sz="1100" dirty="0">
                <a:solidFill>
                  <a:srgbClr val="8FB3BC"/>
                </a:solidFill>
                <a:latin typeface="Courier New" pitchFamily="34" charset="0"/>
                <a:ea typeface="Courier New" pitchFamily="34" charset="-122"/>
                <a:cs typeface="Courier New" pitchFamily="34" charset="-120"/>
              </a:rPr>
              <a:t>pneumonia-project/</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src/</a:t>
            </a:r>
            <a:endParaRPr lang="en-US" sz="1100" dirty="0"/>
          </a:p>
          <a:p>
            <a:pPr indent="0" marL="0">
              <a:buNone/>
            </a:pPr>
            <a:r>
              <a:rPr lang="en-US" sz="1100" dirty="0">
                <a:solidFill>
                  <a:srgbClr val="CADFE4"/>
                </a:solidFill>
                <a:latin typeface="Courier New" pitchFamily="34" charset="0"/>
                <a:ea typeface="Courier New" pitchFamily="34" charset="-122"/>
                <a:cs typeface="Courier New" pitchFamily="34" charset="-120"/>
              </a:rPr>
              <a:t>    common.py      model, Grad-CAM</a:t>
            </a:r>
            <a:endParaRPr lang="en-US" sz="1100" dirty="0"/>
          </a:p>
          <a:p>
            <a:pPr indent="0" marL="0">
              <a:buNone/>
            </a:pPr>
            <a:r>
              <a:rPr lang="en-US" sz="1100" dirty="0">
                <a:solidFill>
                  <a:srgbClr val="CADFE4"/>
                </a:solidFill>
                <a:latin typeface="Courier New" pitchFamily="34" charset="0"/>
                <a:ea typeface="Courier New" pitchFamily="34" charset="-122"/>
                <a:cs typeface="Courier New" pitchFamily="34" charset="-120"/>
              </a:rPr>
              <a:t>    train.py       split, train, eval</a:t>
            </a:r>
            <a:endParaRPr lang="en-US" sz="1100" dirty="0"/>
          </a:p>
          <a:p>
            <a:pPr indent="0" marL="0">
              <a:buNone/>
            </a:pPr>
            <a:r>
              <a:rPr lang="en-US" sz="1100" dirty="0">
                <a:solidFill>
                  <a:srgbClr val="CADFE4"/>
                </a:solidFill>
                <a:latin typeface="Courier New" pitchFamily="34" charset="0"/>
                <a:ea typeface="Courier New" pitchFamily="34" charset="-122"/>
                <a:cs typeface="Courier New" pitchFamily="34" charset="-120"/>
              </a:rPr>
              <a:t>    run_gradcam.py heatmap grid</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app/</a:t>
            </a:r>
            <a:endParaRPr lang="en-US" sz="1100" dirty="0"/>
          </a:p>
          <a:p>
            <a:pPr indent="0" marL="0">
              <a:buNone/>
            </a:pPr>
            <a:r>
              <a:rPr lang="en-US" sz="1100" dirty="0">
                <a:solidFill>
                  <a:srgbClr val="CADFE4"/>
                </a:solidFill>
                <a:latin typeface="Courier New" pitchFamily="34" charset="0"/>
                <a:ea typeface="Courier New" pitchFamily="34" charset="-122"/>
                <a:cs typeface="Courier New" pitchFamily="34" charset="-120"/>
              </a:rPr>
              <a:t>    app.py         Gradio demo</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results/         metrics, figures</a:t>
            </a:r>
            <a:endParaRPr lang="en-US" sz="1100" dirty="0"/>
          </a:p>
          <a:p>
            <a:pPr indent="0" marL="0">
              <a:buNone/>
            </a:pPr>
            <a:r>
              <a:rPr lang="en-US" sz="1100" dirty="0">
                <a:solidFill>
                  <a:srgbClr val="FFFFFF"/>
                </a:solidFill>
                <a:latin typeface="Courier New" pitchFamily="34" charset="0"/>
                <a:ea typeface="Courier New" pitchFamily="34" charset="-122"/>
                <a:cs typeface="Courier New" pitchFamily="34" charset="-120"/>
              </a:rPr>
              <a:t>  README.md</a:t>
            </a:r>
            <a:endParaRPr lang="en-US" sz="1100" dirty="0"/>
          </a:p>
        </p:txBody>
      </p:sp>
      <p:sp>
        <p:nvSpPr>
          <p:cNvPr id="7" name="Text 5"/>
          <p:cNvSpPr txBox="1"/>
          <p:nvPr/>
        </p:nvSpPr>
        <p:spPr>
          <a:xfrm>
            <a:off x="8229600" y="4754880"/>
            <a:ext cx="365760" cy="228600"/>
          </a:xfrm>
          <a:prstGeom prst="rect">
            <a:avLst/>
          </a:prstGeom>
          <a:noFill/>
          <a:ln/>
        </p:spPr>
        <p:txBody>
          <a:bodyPr wrap="square" lIns="0" tIns="0" rIns="0" bIns="0" rtlCol="0" anchor="ctr"/>
          <a:lstStyle/>
          <a:p>
            <a:pPr algn="r" indent="0" marL="0">
              <a:buNone/>
            </a:pPr>
            <a:r>
              <a:rPr lang="en-US" sz="1000" dirty="0">
                <a:solidFill>
                  <a:srgbClr val="5C7077"/>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3F5"/>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0F2A33"/>
                </a:solidFill>
                <a:latin typeface="Cambria" pitchFamily="34" charset="0"/>
                <a:ea typeface="Cambria" pitchFamily="34" charset="-122"/>
                <a:cs typeface="Cambria" pitchFamily="34" charset="-120"/>
              </a:rPr>
              <a:t>Results on the held-out test set</a:t>
            </a:r>
            <a:endParaRPr lang="en-US" sz="3200" dirty="0"/>
          </a:p>
        </p:txBody>
      </p:sp>
      <p:sp>
        <p:nvSpPr>
          <p:cNvPr id="3" name="Shape 1"/>
          <p:cNvSpPr/>
          <p:nvPr/>
        </p:nvSpPr>
        <p:spPr>
          <a:xfrm>
            <a:off x="548640" y="1097280"/>
            <a:ext cx="2286000" cy="731520"/>
          </a:xfrm>
          <a:prstGeom prst="roundRect">
            <a:avLst>
              <a:gd name="adj" fmla="val 125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685800" y="1097280"/>
            <a:ext cx="1097280" cy="731520"/>
          </a:xfrm>
          <a:prstGeom prst="rect">
            <a:avLst/>
          </a:prstGeom>
          <a:noFill/>
          <a:ln/>
        </p:spPr>
        <p:txBody>
          <a:bodyPr wrap="square" lIns="0" tIns="0" rIns="0" bIns="0" rtlCol="0" anchor="ctr"/>
          <a:lstStyle/>
          <a:p>
            <a:pPr indent="0" marL="0">
              <a:buNone/>
            </a:pPr>
            <a:r>
              <a:rPr lang="en-US" sz="2400" b="1" dirty="0">
                <a:solidFill>
                  <a:srgbClr val="145C6B"/>
                </a:solidFill>
                <a:latin typeface="Cambria" pitchFamily="34" charset="0"/>
                <a:ea typeface="Cambria" pitchFamily="34" charset="-122"/>
                <a:cs typeface="Cambria" pitchFamily="34" charset="-120"/>
              </a:rPr>
              <a:t>97.2%</a:t>
            </a:r>
            <a:endParaRPr lang="en-US" sz="2400" dirty="0"/>
          </a:p>
        </p:txBody>
      </p:sp>
      <p:sp>
        <p:nvSpPr>
          <p:cNvPr id="5" name="Text 3"/>
          <p:cNvSpPr txBox="1"/>
          <p:nvPr/>
        </p:nvSpPr>
        <p:spPr>
          <a:xfrm>
            <a:off x="1783080" y="1097280"/>
            <a:ext cx="1005840" cy="731520"/>
          </a:xfrm>
          <a:prstGeom prst="rect">
            <a:avLst/>
          </a:prstGeom>
          <a:noFill/>
          <a:ln/>
        </p:spPr>
        <p:txBody>
          <a:bodyPr wrap="square" lIns="0" tIns="0" rIns="0" bIns="0" rtlCol="0" anchor="ctr"/>
          <a:lstStyle/>
          <a:p>
            <a:pPr indent="0" marL="0">
              <a:buNone/>
            </a:pPr>
            <a:r>
              <a:rPr lang="en-US" sz="1100" dirty="0">
                <a:solidFill>
                  <a:srgbClr val="5C7077"/>
                </a:solidFill>
                <a:latin typeface="Calibri" pitchFamily="34" charset="0"/>
                <a:ea typeface="Calibri" pitchFamily="34" charset="-122"/>
                <a:cs typeface="Calibri" pitchFamily="34" charset="-120"/>
              </a:rPr>
              <a:t>Accuracy</a:t>
            </a:r>
            <a:endParaRPr lang="en-US" sz="1100" dirty="0"/>
          </a:p>
        </p:txBody>
      </p:sp>
      <p:sp>
        <p:nvSpPr>
          <p:cNvPr id="6" name="Shape 4"/>
          <p:cNvSpPr/>
          <p:nvPr/>
        </p:nvSpPr>
        <p:spPr>
          <a:xfrm>
            <a:off x="548640" y="1965960"/>
            <a:ext cx="2286000" cy="731520"/>
          </a:xfrm>
          <a:prstGeom prst="roundRect">
            <a:avLst>
              <a:gd name="adj" fmla="val 125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685800" y="1965960"/>
            <a:ext cx="1097280" cy="731520"/>
          </a:xfrm>
          <a:prstGeom prst="rect">
            <a:avLst/>
          </a:prstGeom>
          <a:noFill/>
          <a:ln/>
        </p:spPr>
        <p:txBody>
          <a:bodyPr wrap="square" lIns="0" tIns="0" rIns="0" bIns="0" rtlCol="0" anchor="ctr"/>
          <a:lstStyle/>
          <a:p>
            <a:pPr indent="0" marL="0">
              <a:buNone/>
            </a:pPr>
            <a:r>
              <a:rPr lang="en-US" sz="2400" b="1" dirty="0">
                <a:solidFill>
                  <a:srgbClr val="E8624A"/>
                </a:solidFill>
                <a:latin typeface="Cambria" pitchFamily="34" charset="0"/>
                <a:ea typeface="Cambria" pitchFamily="34" charset="-122"/>
                <a:cs typeface="Cambria" pitchFamily="34" charset="-120"/>
              </a:rPr>
              <a:t>98.0%</a:t>
            </a:r>
            <a:endParaRPr lang="en-US" sz="2400" dirty="0"/>
          </a:p>
        </p:txBody>
      </p:sp>
      <p:sp>
        <p:nvSpPr>
          <p:cNvPr id="8" name="Text 6"/>
          <p:cNvSpPr txBox="1"/>
          <p:nvPr/>
        </p:nvSpPr>
        <p:spPr>
          <a:xfrm>
            <a:off x="1783080" y="1965960"/>
            <a:ext cx="1005840" cy="731520"/>
          </a:xfrm>
          <a:prstGeom prst="rect">
            <a:avLst/>
          </a:prstGeom>
          <a:noFill/>
          <a:ln/>
        </p:spPr>
        <p:txBody>
          <a:bodyPr wrap="square" lIns="0" tIns="0" rIns="0" bIns="0" rtlCol="0" anchor="ctr"/>
          <a:lstStyle/>
          <a:p>
            <a:pPr indent="0" marL="0">
              <a:buNone/>
            </a:pPr>
            <a:r>
              <a:rPr lang="en-US" sz="1100" dirty="0">
                <a:solidFill>
                  <a:srgbClr val="5C7077"/>
                </a:solidFill>
                <a:latin typeface="Calibri" pitchFamily="34" charset="0"/>
                <a:ea typeface="Calibri" pitchFamily="34" charset="-122"/>
                <a:cs typeface="Calibri" pitchFamily="34" charset="-120"/>
              </a:rPr>
              <a:t>Pneumonia recall</a:t>
            </a:r>
            <a:endParaRPr lang="en-US" sz="1100" dirty="0"/>
          </a:p>
        </p:txBody>
      </p:sp>
      <p:sp>
        <p:nvSpPr>
          <p:cNvPr id="9" name="Shape 7"/>
          <p:cNvSpPr/>
          <p:nvPr/>
        </p:nvSpPr>
        <p:spPr>
          <a:xfrm>
            <a:off x="548640" y="2834640"/>
            <a:ext cx="2286000" cy="731520"/>
          </a:xfrm>
          <a:prstGeom prst="roundRect">
            <a:avLst>
              <a:gd name="adj" fmla="val 125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0" name="Text 8"/>
          <p:cNvSpPr txBox="1"/>
          <p:nvPr/>
        </p:nvSpPr>
        <p:spPr>
          <a:xfrm>
            <a:off x="685800" y="2834640"/>
            <a:ext cx="1097280" cy="731520"/>
          </a:xfrm>
          <a:prstGeom prst="rect">
            <a:avLst/>
          </a:prstGeom>
          <a:noFill/>
          <a:ln/>
        </p:spPr>
        <p:txBody>
          <a:bodyPr wrap="square" lIns="0" tIns="0" rIns="0" bIns="0" rtlCol="0" anchor="ctr"/>
          <a:lstStyle/>
          <a:p>
            <a:pPr indent="0" marL="0">
              <a:buNone/>
            </a:pPr>
            <a:r>
              <a:rPr lang="en-US" sz="2400" b="1" dirty="0">
                <a:solidFill>
                  <a:srgbClr val="145C6B"/>
                </a:solidFill>
                <a:latin typeface="Cambria" pitchFamily="34" charset="0"/>
                <a:ea typeface="Cambria" pitchFamily="34" charset="-122"/>
                <a:cs typeface="Cambria" pitchFamily="34" charset="-120"/>
              </a:rPr>
              <a:t>0.980</a:t>
            </a:r>
            <a:endParaRPr lang="en-US" sz="2400" dirty="0"/>
          </a:p>
        </p:txBody>
      </p:sp>
      <p:sp>
        <p:nvSpPr>
          <p:cNvPr id="11" name="Text 9"/>
          <p:cNvSpPr txBox="1"/>
          <p:nvPr/>
        </p:nvSpPr>
        <p:spPr>
          <a:xfrm>
            <a:off x="1783080" y="2834640"/>
            <a:ext cx="1005840" cy="731520"/>
          </a:xfrm>
          <a:prstGeom prst="rect">
            <a:avLst/>
          </a:prstGeom>
          <a:noFill/>
          <a:ln/>
        </p:spPr>
        <p:txBody>
          <a:bodyPr wrap="square" lIns="0" tIns="0" rIns="0" bIns="0" rtlCol="0" anchor="ctr"/>
          <a:lstStyle/>
          <a:p>
            <a:pPr indent="0" marL="0">
              <a:buNone/>
            </a:pPr>
            <a:r>
              <a:rPr lang="en-US" sz="1100" dirty="0">
                <a:solidFill>
                  <a:srgbClr val="5C7077"/>
                </a:solidFill>
                <a:latin typeface="Calibri" pitchFamily="34" charset="0"/>
                <a:ea typeface="Calibri" pitchFamily="34" charset="-122"/>
                <a:cs typeface="Calibri" pitchFamily="34" charset="-120"/>
              </a:rPr>
              <a:t>Pneumonia F1</a:t>
            </a:r>
            <a:endParaRPr lang="en-US" sz="1100" dirty="0"/>
          </a:p>
        </p:txBody>
      </p:sp>
      <p:sp>
        <p:nvSpPr>
          <p:cNvPr id="12" name="Shape 10"/>
          <p:cNvSpPr/>
          <p:nvPr/>
        </p:nvSpPr>
        <p:spPr>
          <a:xfrm>
            <a:off x="548640" y="3703320"/>
            <a:ext cx="2286000" cy="731520"/>
          </a:xfrm>
          <a:prstGeom prst="roundRect">
            <a:avLst>
              <a:gd name="adj" fmla="val 12500"/>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11"/>
          <p:cNvSpPr txBox="1"/>
          <p:nvPr/>
        </p:nvSpPr>
        <p:spPr>
          <a:xfrm>
            <a:off x="685800" y="3703320"/>
            <a:ext cx="1097280" cy="731520"/>
          </a:xfrm>
          <a:prstGeom prst="rect">
            <a:avLst/>
          </a:prstGeom>
          <a:noFill/>
          <a:ln/>
        </p:spPr>
        <p:txBody>
          <a:bodyPr wrap="square" lIns="0" tIns="0" rIns="0" bIns="0" rtlCol="0" anchor="ctr"/>
          <a:lstStyle/>
          <a:p>
            <a:pPr indent="0" marL="0">
              <a:buNone/>
            </a:pPr>
            <a:r>
              <a:rPr lang="en-US" sz="2400" b="1" dirty="0">
                <a:solidFill>
                  <a:srgbClr val="145C6B"/>
                </a:solidFill>
                <a:latin typeface="Cambria" pitchFamily="34" charset="0"/>
                <a:ea typeface="Cambria" pitchFamily="34" charset="-122"/>
                <a:cs typeface="Cambria" pitchFamily="34" charset="-120"/>
              </a:rPr>
              <a:t>0.996</a:t>
            </a:r>
            <a:endParaRPr lang="en-US" sz="2400" dirty="0"/>
          </a:p>
        </p:txBody>
      </p:sp>
      <p:sp>
        <p:nvSpPr>
          <p:cNvPr id="14" name="Text 12"/>
          <p:cNvSpPr txBox="1"/>
          <p:nvPr/>
        </p:nvSpPr>
        <p:spPr>
          <a:xfrm>
            <a:off x="1783080" y="3703320"/>
            <a:ext cx="1005840" cy="731520"/>
          </a:xfrm>
          <a:prstGeom prst="rect">
            <a:avLst/>
          </a:prstGeom>
          <a:noFill/>
          <a:ln/>
        </p:spPr>
        <p:txBody>
          <a:bodyPr wrap="square" lIns="0" tIns="0" rIns="0" bIns="0" rtlCol="0" anchor="ctr"/>
          <a:lstStyle/>
          <a:p>
            <a:pPr indent="0" marL="0">
              <a:buNone/>
            </a:pPr>
            <a:r>
              <a:rPr lang="en-US" sz="1100" dirty="0">
                <a:solidFill>
                  <a:srgbClr val="5C7077"/>
                </a:solidFill>
                <a:latin typeface="Calibri" pitchFamily="34" charset="0"/>
                <a:ea typeface="Calibri" pitchFamily="34" charset="-122"/>
                <a:cs typeface="Calibri" pitchFamily="34" charset="-120"/>
              </a:rPr>
              <a:t>ROC-AUC</a:t>
            </a:r>
            <a:endParaRPr lang="en-US" sz="1100" dirty="0"/>
          </a:p>
        </p:txBody>
      </p:sp>
      <p:pic>
        <p:nvPicPr>
          <p:cNvPr id="15" name="Image 0" descr="/home/claude/out/results/confusion_matrix.png">    </p:cNvPr>
          <p:cNvPicPr>
            <a:picLocks noChangeAspect="1"/>
          </p:cNvPicPr>
          <p:nvPr/>
        </p:nvPicPr>
        <p:blipFill>
          <a:blip r:embed="rId1"/>
          <a:stretch>
            <a:fillRect/>
          </a:stretch>
        </p:blipFill>
        <p:spPr>
          <a:xfrm>
            <a:off x="3200400" y="1097280"/>
            <a:ext cx="2743200" cy="2130458"/>
          </a:xfrm>
          <a:prstGeom prst="rect">
            <a:avLst/>
          </a:prstGeom>
          <a:effectLst>
            <a:outerShdw sx="100000" sy="100000" kx="0" ky="0" algn="bl" rotWithShape="0" blurRad="101600" dist="25400" dir="5400000">
              <a:srgbClr val="000000">
                <a:alpha val="12000"/>
              </a:srgbClr>
            </a:outerShdw>
          </a:effectLst>
        </p:spPr>
      </p:pic>
      <p:pic>
        <p:nvPicPr>
          <p:cNvPr id="16" name="Image 1" descr="/home/claude/out/results/roc_curve.png">    </p:cNvPr>
          <p:cNvPicPr>
            <a:picLocks noChangeAspect="1"/>
          </p:cNvPicPr>
          <p:nvPr/>
        </p:nvPicPr>
        <p:blipFill>
          <a:blip r:embed="rId2"/>
          <a:stretch>
            <a:fillRect/>
          </a:stretch>
        </p:blipFill>
        <p:spPr>
          <a:xfrm>
            <a:off x="6035040" y="1097280"/>
            <a:ext cx="2651760" cy="2115169"/>
          </a:xfrm>
          <a:prstGeom prst="rect">
            <a:avLst/>
          </a:prstGeom>
          <a:effectLst>
            <a:outerShdw sx="100000" sy="100000" kx="0" ky="0" algn="bl" rotWithShape="0" blurRad="101600" dist="25400" dir="5400000">
              <a:srgbClr val="000000">
                <a:alpha val="12000"/>
              </a:srgbClr>
            </a:outerShdw>
          </a:effectLst>
        </p:spPr>
      </p:pic>
      <p:sp>
        <p:nvSpPr>
          <p:cNvPr id="17" name="Text 13"/>
          <p:cNvSpPr txBox="1"/>
          <p:nvPr/>
        </p:nvSpPr>
        <p:spPr>
          <a:xfrm>
            <a:off x="3200400" y="3520440"/>
            <a:ext cx="5486400" cy="822960"/>
          </a:xfrm>
          <a:prstGeom prst="rect">
            <a:avLst/>
          </a:prstGeom>
          <a:noFill/>
          <a:ln/>
        </p:spPr>
        <p:txBody>
          <a:bodyPr wrap="square" lIns="0" tIns="0" rIns="0" bIns="0" rtlCol="0" anchor="t"/>
          <a:lstStyle/>
          <a:p>
            <a:pPr indent="0" marL="0">
              <a:buNone/>
            </a:pPr>
            <a:r>
              <a:rPr lang="en-US" sz="1400" dirty="0">
                <a:solidFill>
                  <a:srgbClr val="1B2B30"/>
                </a:solidFill>
                <a:latin typeface="Calibri" pitchFamily="34" charset="0"/>
                <a:ea typeface="Calibri" pitchFamily="34" charset="-122"/>
                <a:cs typeface="Calibri" pitchFamily="34" charset="-120"/>
              </a:rPr>
              <a:t>Only 12 of 614 pneumonia cases were missed, and 13 of 264 normal cases were flagged. In screening, missed cases cost more than false alarms, so recall is the number to watch.</a:t>
            </a:r>
            <a:endParaRPr lang="en-US" sz="1400" dirty="0"/>
          </a:p>
        </p:txBody>
      </p:sp>
      <p:sp>
        <p:nvSpPr>
          <p:cNvPr id="18" name="Text 14"/>
          <p:cNvSpPr txBox="1"/>
          <p:nvPr/>
        </p:nvSpPr>
        <p:spPr>
          <a:xfrm>
            <a:off x="8229600" y="4754880"/>
            <a:ext cx="365760" cy="228600"/>
          </a:xfrm>
          <a:prstGeom prst="rect">
            <a:avLst/>
          </a:prstGeom>
          <a:noFill/>
          <a:ln/>
        </p:spPr>
        <p:txBody>
          <a:bodyPr wrap="square" lIns="0" tIns="0" rIns="0" bIns="0" rtlCol="0" anchor="ctr"/>
          <a:lstStyle/>
          <a:p>
            <a:pPr algn="r" indent="0" marL="0">
              <a:buNone/>
            </a:pPr>
            <a:r>
              <a:rPr lang="en-US" sz="1000" dirty="0">
                <a:solidFill>
                  <a:srgbClr val="5C7077"/>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0F2A33"/>
                </a:solidFill>
                <a:latin typeface="Cambria" pitchFamily="34" charset="0"/>
                <a:ea typeface="Cambria" pitchFamily="34" charset="-122"/>
                <a:cs typeface="Cambria" pitchFamily="34" charset="-120"/>
              </a:rPr>
              <a:t>Localization with Grad-CAM</a:t>
            </a:r>
            <a:endParaRPr lang="en-US" sz="3200" dirty="0"/>
          </a:p>
        </p:txBody>
      </p:sp>
      <p:pic>
        <p:nvPicPr>
          <p:cNvPr id="3" name="Image 0" descr="/home/claude/out/results/gradcam_samples.png">    </p:cNvPr>
          <p:cNvPicPr>
            <a:picLocks noChangeAspect="1"/>
          </p:cNvPicPr>
          <p:nvPr/>
        </p:nvPicPr>
        <p:blipFill>
          <a:blip r:embed="rId1"/>
          <a:stretch>
            <a:fillRect/>
          </a:stretch>
        </p:blipFill>
        <p:spPr>
          <a:xfrm>
            <a:off x="548640" y="1097280"/>
            <a:ext cx="8046720" cy="2145792"/>
          </a:xfrm>
          <a:prstGeom prst="rect">
            <a:avLst/>
          </a:prstGeom>
          <a:effectLst>
            <a:outerShdw sx="100000" sy="100000" kx="0" ky="0" algn="bl" rotWithShape="0" blurRad="101600" dist="25400" dir="5400000">
              <a:srgbClr val="000000">
                <a:alpha val="12000"/>
              </a:srgbClr>
            </a:outerShdw>
          </a:effectLst>
        </p:spPr>
      </p:pic>
      <p:sp>
        <p:nvSpPr>
          <p:cNvPr id="4" name="Text 1"/>
          <p:cNvSpPr txBox="1"/>
          <p:nvPr/>
        </p:nvSpPr>
        <p:spPr>
          <a:xfrm>
            <a:off x="548640" y="3520440"/>
            <a:ext cx="8046720" cy="10972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1B2B30"/>
                </a:solidFill>
                <a:latin typeface="Calibri" pitchFamily="34" charset="0"/>
                <a:ea typeface="Calibri" pitchFamily="34" charset="-122"/>
                <a:cs typeface="Calibri" pitchFamily="34" charset="-120"/>
              </a:rPr>
              <a:t>Red marks the region that most increased the predicted class score.</a:t>
            </a:r>
            <a:endParaRPr lang="en-US" sz="1400" dirty="0"/>
          </a:p>
          <a:p>
            <a:pPr marL="342900" indent="-342900">
              <a:spcAft>
                <a:spcPts val="500"/>
              </a:spcAft>
              <a:buSzPct val="100000"/>
              <a:buChar char="•"/>
            </a:pPr>
            <a:r>
              <a:rPr lang="en-US" sz="1400" dirty="0">
                <a:solidFill>
                  <a:srgbClr val="1B2B30"/>
                </a:solidFill>
                <a:latin typeface="Calibri" pitchFamily="34" charset="0"/>
                <a:ea typeface="Calibri" pitchFamily="34" charset="-122"/>
                <a:cs typeface="Calibri" pitchFamily="34" charset="-120"/>
              </a:rPr>
              <a:t>Heatmaps mostly sit on the lungs, which supports that the model uses lung tissue.</a:t>
            </a:r>
            <a:endParaRPr lang="en-US" sz="1400" dirty="0"/>
          </a:p>
          <a:p>
            <a:pPr marL="342900" indent="-342900">
              <a:spcAft>
                <a:spcPts val="500"/>
              </a:spcAft>
              <a:buSzPct val="100000"/>
              <a:buChar char="•"/>
            </a:pPr>
            <a:r>
              <a:rPr lang="en-US" sz="1400" dirty="0">
                <a:solidFill>
                  <a:srgbClr val="1B2B30"/>
                </a:solidFill>
                <a:latin typeface="Calibri" pitchFamily="34" charset="0"/>
                <a:ea typeface="Calibri" pitchFamily="34" charset="-122"/>
                <a:cs typeface="Calibri" pitchFamily="34" charset="-120"/>
              </a:rPr>
              <a:t>Caveat: a few maps touch image markers (e.g. the 'A-P' label), a possible shortcut cue.</a:t>
            </a:r>
            <a:endParaRPr lang="en-US" sz="1400" dirty="0"/>
          </a:p>
        </p:txBody>
      </p:sp>
      <p:sp>
        <p:nvSpPr>
          <p:cNvPr id="5" name="Text 2"/>
          <p:cNvSpPr txBox="1"/>
          <p:nvPr/>
        </p:nvSpPr>
        <p:spPr>
          <a:xfrm>
            <a:off x="8229600" y="4754880"/>
            <a:ext cx="365760" cy="228600"/>
          </a:xfrm>
          <a:prstGeom prst="rect">
            <a:avLst/>
          </a:prstGeom>
          <a:noFill/>
          <a:ln/>
        </p:spPr>
        <p:txBody>
          <a:bodyPr wrap="square" lIns="0" tIns="0" rIns="0" bIns="0" rtlCol="0" anchor="ctr"/>
          <a:lstStyle/>
          <a:p>
            <a:pPr algn="r" indent="0" marL="0">
              <a:buNone/>
            </a:pPr>
            <a:r>
              <a:rPr lang="en-US" sz="1000" dirty="0">
                <a:solidFill>
                  <a:srgbClr val="5C7077"/>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2A33"/>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Live demo</a:t>
            </a:r>
            <a:endParaRPr lang="en-US" sz="3200" dirty="0"/>
          </a:p>
        </p:txBody>
      </p:sp>
      <p:pic>
        <p:nvPicPr>
          <p:cNvPr id="3" name="Image 0" descr="/mnt/user-data/uploads/1790924661432_image.png">    </p:cNvPr>
          <p:cNvPicPr>
            <a:picLocks noChangeAspect="1"/>
          </p:cNvPicPr>
          <p:nvPr/>
        </p:nvPicPr>
        <p:blipFill>
          <a:blip r:embed="rId1"/>
          <a:stretch>
            <a:fillRect/>
          </a:stretch>
        </p:blipFill>
        <p:spPr>
          <a:xfrm>
            <a:off x="548640" y="1097280"/>
            <a:ext cx="5394960" cy="2838845"/>
          </a:xfrm>
          <a:prstGeom prst="rect">
            <a:avLst/>
          </a:prstGeom>
          <a:effectLst>
            <a:outerShdw sx="100000" sy="100000" kx="0" ky="0" algn="bl" rotWithShape="0" blurRad="127000" dist="38100" dir="5400000">
              <a:srgbClr val="000000">
                <a:alpha val="40000"/>
              </a:srgbClr>
            </a:outerShdw>
          </a:effectLst>
        </p:spPr>
      </p:pic>
      <p:sp>
        <p:nvSpPr>
          <p:cNvPr id="4" name="Text 1"/>
          <p:cNvSpPr txBox="1"/>
          <p:nvPr/>
        </p:nvSpPr>
        <p:spPr>
          <a:xfrm>
            <a:off x="6263640" y="1143000"/>
            <a:ext cx="2377440" cy="2560320"/>
          </a:xfrm>
          <a:prstGeom prst="rect">
            <a:avLst/>
          </a:prstGeom>
          <a:noFill/>
          <a:ln/>
        </p:spPr>
        <p:txBody>
          <a:bodyPr wrap="square" lIns="0" tIns="0" rIns="0" bIns="0" rtlCol="0" anchor="t"/>
          <a:lstStyle/>
          <a:p>
            <a:pPr indent="0" marL="0">
              <a:spcAft>
                <a:spcPts val="600"/>
              </a:spcAft>
              <a:buNone/>
            </a:pPr>
            <a:r>
              <a:rPr lang="en-US" sz="1800" b="1" dirty="0">
                <a:solidFill>
                  <a:srgbClr val="FFFFFF"/>
                </a:solidFill>
                <a:latin typeface="Cambria" pitchFamily="34" charset="0"/>
                <a:ea typeface="Cambria" pitchFamily="34" charset="-122"/>
                <a:cs typeface="Cambria" pitchFamily="34" charset="-120"/>
              </a:rPr>
              <a:t>Gradio app</a:t>
            </a:r>
            <a:endParaRPr lang="en-US" sz="1400" dirty="0"/>
          </a:p>
          <a:p>
            <a:pPr marL="342900" indent="-342900">
              <a:spcAft>
                <a:spcPts val="600"/>
              </a:spcAft>
              <a:buSzPct val="100000"/>
              <a:buChar char="•"/>
            </a:pPr>
            <a:r>
              <a:rPr lang="en-US" sz="1400" dirty="0">
                <a:solidFill>
                  <a:srgbClr val="CADFE4"/>
                </a:solidFill>
                <a:latin typeface="Calibri" pitchFamily="34" charset="0"/>
                <a:ea typeface="Calibri" pitchFamily="34" charset="-122"/>
                <a:cs typeface="Calibri" pitchFamily="34" charset="-120"/>
              </a:rPr>
              <a:t>Upload an X-ray</a:t>
            </a:r>
            <a:endParaRPr lang="en-US" sz="1400" dirty="0"/>
          </a:p>
          <a:p>
            <a:pPr marL="342900" indent="-342900">
              <a:spcAft>
                <a:spcPts val="600"/>
              </a:spcAft>
              <a:buSzPct val="100000"/>
              <a:buChar char="•"/>
            </a:pPr>
            <a:r>
              <a:rPr lang="en-US" sz="1400" dirty="0">
                <a:solidFill>
                  <a:srgbClr val="CADFE4"/>
                </a:solidFill>
                <a:latin typeface="Calibri" pitchFamily="34" charset="0"/>
                <a:ea typeface="Calibri" pitchFamily="34" charset="-122"/>
                <a:cs typeface="Calibri" pitchFamily="34" charset="-120"/>
              </a:rPr>
              <a:t>Get label and confidence</a:t>
            </a:r>
            <a:endParaRPr lang="en-US" sz="1400" dirty="0"/>
          </a:p>
          <a:p>
            <a:pPr marL="342900" indent="-342900">
              <a:spcAft>
                <a:spcPts val="600"/>
              </a:spcAft>
              <a:buSzPct val="100000"/>
              <a:buChar char="•"/>
            </a:pPr>
            <a:r>
              <a:rPr lang="en-US" sz="1400" dirty="0">
                <a:solidFill>
                  <a:srgbClr val="CADFE4"/>
                </a:solidFill>
                <a:latin typeface="Calibri" pitchFamily="34" charset="0"/>
                <a:ea typeface="Calibri" pitchFamily="34" charset="-122"/>
                <a:cs typeface="Calibri" pitchFamily="34" charset="-120"/>
              </a:rPr>
              <a:t>See the Grad-CAM heatmap</a:t>
            </a:r>
            <a:endParaRPr lang="en-US" sz="1400" dirty="0"/>
          </a:p>
          <a:p>
            <a:pPr marL="342900" indent="-342900">
              <a:spcAft>
                <a:spcPts val="600"/>
              </a:spcAft>
              <a:buSzPct val="100000"/>
              <a:buChar char="•"/>
            </a:pPr>
            <a:r>
              <a:rPr lang="en-US" sz="1400" dirty="0">
                <a:solidFill>
                  <a:srgbClr val="CADFE4"/>
                </a:solidFill>
                <a:latin typeface="Calibri" pitchFamily="34" charset="0"/>
                <a:ea typeface="Calibri" pitchFamily="34" charset="-122"/>
                <a:cs typeface="Calibri" pitchFamily="34" charset="-120"/>
              </a:rPr>
              <a:t>Try one pneumonia and one normal case</a:t>
            </a:r>
            <a:endParaRPr lang="en-US" sz="1400" dirty="0"/>
          </a:p>
        </p:txBody>
      </p:sp>
      <p:sp>
        <p:nvSpPr>
          <p:cNvPr id="5" name="Text 2"/>
          <p:cNvSpPr txBox="1"/>
          <p:nvPr/>
        </p:nvSpPr>
        <p:spPr>
          <a:xfrm>
            <a:off x="8229600" y="4754880"/>
            <a:ext cx="365760" cy="228600"/>
          </a:xfrm>
          <a:prstGeom prst="rect">
            <a:avLst/>
          </a:prstGeom>
          <a:noFill/>
          <a:ln/>
        </p:spPr>
        <p:txBody>
          <a:bodyPr wrap="square" lIns="0" tIns="0" rIns="0" bIns="0" rtlCol="0" anchor="ctr"/>
          <a:lstStyle/>
          <a:p>
            <a:pPr algn="r" indent="0" marL="0">
              <a:buNone/>
            </a:pPr>
            <a:r>
              <a:rPr lang="en-US" sz="1000" dirty="0">
                <a:solidFill>
                  <a:srgbClr val="8FB3BC"/>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046720" cy="640080"/>
          </a:xfrm>
          <a:prstGeom prst="rect">
            <a:avLst/>
          </a:prstGeom>
          <a:noFill/>
          <a:ln/>
        </p:spPr>
        <p:txBody>
          <a:bodyPr wrap="square" lIns="0" tIns="0" rIns="0" bIns="0" rtlCol="0" anchor="ctr"/>
          <a:lstStyle/>
          <a:p>
            <a:pPr indent="0" marL="0">
              <a:buNone/>
            </a:pPr>
            <a:r>
              <a:rPr lang="en-US" sz="3200" b="1" dirty="0">
                <a:solidFill>
                  <a:srgbClr val="0F2A33"/>
                </a:solidFill>
                <a:latin typeface="Cambria" pitchFamily="34" charset="0"/>
                <a:ea typeface="Cambria" pitchFamily="34" charset="-122"/>
                <a:cs typeface="Cambria" pitchFamily="34" charset="-120"/>
              </a:rPr>
              <a:t>Limitations and next steps</a:t>
            </a:r>
            <a:endParaRPr lang="en-US" sz="3200" dirty="0"/>
          </a:p>
        </p:txBody>
      </p:sp>
      <p:sp>
        <p:nvSpPr>
          <p:cNvPr id="3" name="Shape 1"/>
          <p:cNvSpPr/>
          <p:nvPr/>
        </p:nvSpPr>
        <p:spPr>
          <a:xfrm>
            <a:off x="548640" y="1188720"/>
            <a:ext cx="3931920" cy="3017520"/>
          </a:xfrm>
          <a:prstGeom prst="roundRect">
            <a:avLst>
              <a:gd name="adj" fmla="val 3636"/>
            </a:avLst>
          </a:prstGeom>
          <a:solidFill>
            <a:srgbClr val="EAF3F5"/>
          </a:solidFill>
          <a:ln w="12700">
            <a:solidFill>
              <a:srgbClr val="EAF3F5"/>
            </a:solidFill>
            <a:prstDash val="solid"/>
          </a:ln>
        </p:spPr>
      </p:sp>
      <p:sp>
        <p:nvSpPr>
          <p:cNvPr id="4" name="Text 2"/>
          <p:cNvSpPr txBox="1"/>
          <p:nvPr/>
        </p:nvSpPr>
        <p:spPr>
          <a:xfrm>
            <a:off x="822960" y="1371600"/>
            <a:ext cx="3383280" cy="365760"/>
          </a:xfrm>
          <a:prstGeom prst="rect">
            <a:avLst/>
          </a:prstGeom>
          <a:noFill/>
          <a:ln/>
        </p:spPr>
        <p:txBody>
          <a:bodyPr wrap="square" lIns="0" tIns="0" rIns="0" bIns="0" rtlCol="0" anchor="ctr"/>
          <a:lstStyle/>
          <a:p>
            <a:pPr indent="0" marL="0">
              <a:buNone/>
            </a:pPr>
            <a:r>
              <a:rPr lang="en-US" sz="2000" b="1" dirty="0">
                <a:solidFill>
                  <a:srgbClr val="E8624A"/>
                </a:solidFill>
                <a:latin typeface="Cambria" pitchFamily="34" charset="0"/>
                <a:ea typeface="Cambria" pitchFamily="34" charset="-122"/>
                <a:cs typeface="Cambria" pitchFamily="34" charset="-120"/>
              </a:rPr>
              <a:t>Limitations</a:t>
            </a:r>
            <a:endParaRPr lang="en-US" sz="2000" dirty="0"/>
          </a:p>
        </p:txBody>
      </p:sp>
      <p:sp>
        <p:nvSpPr>
          <p:cNvPr id="5" name="Text 3"/>
          <p:cNvSpPr txBox="1"/>
          <p:nvPr/>
        </p:nvSpPr>
        <p:spPr>
          <a:xfrm>
            <a:off x="822960" y="1874520"/>
            <a:ext cx="338328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2B30"/>
                </a:solidFill>
                <a:latin typeface="Calibri" pitchFamily="34" charset="0"/>
                <a:ea typeface="Calibri" pitchFamily="34" charset="-122"/>
                <a:cs typeface="Calibri" pitchFamily="34" charset="-120"/>
              </a:rPr>
              <a:t>Pediatric data from one source; may not transfer to adults or other hospitals</a:t>
            </a:r>
            <a:endParaRPr lang="en-US" sz="1400" dirty="0"/>
          </a:p>
          <a:p>
            <a:pPr marL="342900" indent="-342900">
              <a:spcAft>
                <a:spcPts val="800"/>
              </a:spcAft>
              <a:buSzPct val="100000"/>
              <a:buChar char="•"/>
            </a:pPr>
            <a:r>
              <a:rPr lang="en-US" sz="1400" dirty="0">
                <a:solidFill>
                  <a:srgbClr val="1B2B30"/>
                </a:solidFill>
                <a:latin typeface="Calibri" pitchFamily="34" charset="0"/>
                <a:ea typeface="Calibri" pitchFamily="34" charset="-122"/>
                <a:cs typeface="Calibri" pitchFamily="34" charset="-120"/>
              </a:rPr>
              <a:t>Grad-CAM is coarse and was not scored against ground-truth boxes</a:t>
            </a:r>
            <a:endParaRPr lang="en-US" sz="1400" dirty="0"/>
          </a:p>
          <a:p>
            <a:pPr marL="342900" indent="-342900">
              <a:spcAft>
                <a:spcPts val="800"/>
              </a:spcAft>
              <a:buSzPct val="100000"/>
              <a:buChar char="•"/>
            </a:pPr>
            <a:r>
              <a:rPr lang="en-US" sz="1400" dirty="0">
                <a:solidFill>
                  <a:srgbClr val="1B2B30"/>
                </a:solidFill>
                <a:latin typeface="Calibri" pitchFamily="34" charset="0"/>
                <a:ea typeface="Calibri" pitchFamily="34" charset="-122"/>
                <a:cs typeface="Calibri" pitchFamily="34" charset="-120"/>
              </a:rPr>
              <a:t>Kaggle labels contain some noise</a:t>
            </a:r>
            <a:endParaRPr lang="en-US" sz="1400" dirty="0"/>
          </a:p>
        </p:txBody>
      </p:sp>
      <p:sp>
        <p:nvSpPr>
          <p:cNvPr id="6" name="Shape 4"/>
          <p:cNvSpPr/>
          <p:nvPr/>
        </p:nvSpPr>
        <p:spPr>
          <a:xfrm>
            <a:off x="4663440" y="1188720"/>
            <a:ext cx="3931920" cy="3017520"/>
          </a:xfrm>
          <a:prstGeom prst="roundRect">
            <a:avLst>
              <a:gd name="adj" fmla="val 3636"/>
            </a:avLst>
          </a:prstGeom>
          <a:solidFill>
            <a:srgbClr val="EAF3F5"/>
          </a:solidFill>
          <a:ln w="12700">
            <a:solidFill>
              <a:srgbClr val="EAF3F5"/>
            </a:solidFill>
            <a:prstDash val="solid"/>
          </a:ln>
        </p:spPr>
      </p:sp>
      <p:sp>
        <p:nvSpPr>
          <p:cNvPr id="7" name="Text 5"/>
          <p:cNvSpPr txBox="1"/>
          <p:nvPr/>
        </p:nvSpPr>
        <p:spPr>
          <a:xfrm>
            <a:off x="4937760" y="1371600"/>
            <a:ext cx="3383280" cy="365760"/>
          </a:xfrm>
          <a:prstGeom prst="rect">
            <a:avLst/>
          </a:prstGeom>
          <a:noFill/>
          <a:ln/>
        </p:spPr>
        <p:txBody>
          <a:bodyPr wrap="square" lIns="0" tIns="0" rIns="0" bIns="0" rtlCol="0" anchor="ctr"/>
          <a:lstStyle/>
          <a:p>
            <a:pPr indent="0" marL="0">
              <a:buNone/>
            </a:pPr>
            <a:r>
              <a:rPr lang="en-US" sz="2000" b="1" dirty="0">
                <a:solidFill>
                  <a:srgbClr val="145C6B"/>
                </a:solidFill>
                <a:latin typeface="Cambria" pitchFamily="34" charset="0"/>
                <a:ea typeface="Cambria" pitchFamily="34" charset="-122"/>
                <a:cs typeface="Cambria" pitchFamily="34" charset="-120"/>
              </a:rPr>
              <a:t>Next steps</a:t>
            </a:r>
            <a:endParaRPr lang="en-US" sz="2000" dirty="0"/>
          </a:p>
        </p:txBody>
      </p:sp>
      <p:sp>
        <p:nvSpPr>
          <p:cNvPr id="8" name="Text 6"/>
          <p:cNvSpPr txBox="1"/>
          <p:nvPr/>
        </p:nvSpPr>
        <p:spPr>
          <a:xfrm>
            <a:off x="4937760" y="1874520"/>
            <a:ext cx="338328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2B30"/>
                </a:solidFill>
                <a:latin typeface="Calibri" pitchFamily="34" charset="0"/>
                <a:ea typeface="Calibri" pitchFamily="34" charset="-122"/>
                <a:cs typeface="Calibri" pitchFamily="34" charset="-120"/>
              </a:rPr>
              <a:t>Train a detector (Faster R-CNN or YOLO) on RSNA bounding boxes and score with IoU/mAP</a:t>
            </a:r>
            <a:endParaRPr lang="en-US" sz="1400" dirty="0"/>
          </a:p>
          <a:p>
            <a:pPr marL="342900" indent="-342900">
              <a:spcAft>
                <a:spcPts val="800"/>
              </a:spcAft>
              <a:buSzPct val="100000"/>
              <a:buChar char="•"/>
            </a:pPr>
            <a:r>
              <a:rPr lang="en-US" sz="1400" dirty="0">
                <a:solidFill>
                  <a:srgbClr val="1B2B30"/>
                </a:solidFill>
                <a:latin typeface="Calibri" pitchFamily="34" charset="0"/>
                <a:ea typeface="Calibri" pitchFamily="34" charset="-122"/>
                <a:cs typeface="Calibri" pitchFamily="34" charset="-120"/>
              </a:rPr>
              <a:t>Test on external data</a:t>
            </a:r>
            <a:endParaRPr lang="en-US" sz="1400" dirty="0"/>
          </a:p>
          <a:p>
            <a:pPr marL="342900" indent="-342900">
              <a:spcAft>
                <a:spcPts val="800"/>
              </a:spcAft>
              <a:buSzPct val="100000"/>
              <a:buChar char="•"/>
            </a:pPr>
            <a:r>
              <a:rPr lang="en-US" sz="1400" dirty="0">
                <a:solidFill>
                  <a:srgbClr val="1B2B30"/>
                </a:solidFill>
                <a:latin typeface="Calibri" pitchFamily="34" charset="0"/>
                <a:ea typeface="Calibri" pitchFamily="34" charset="-122"/>
                <a:cs typeface="Calibri" pitchFamily="34" charset="-120"/>
              </a:rPr>
              <a:t>Tune the threshold toward higher recall</a:t>
            </a:r>
            <a:endParaRPr lang="en-US" sz="1400" dirty="0"/>
          </a:p>
        </p:txBody>
      </p:sp>
      <p:sp>
        <p:nvSpPr>
          <p:cNvPr id="9" name="Text 7"/>
          <p:cNvSpPr txBox="1"/>
          <p:nvPr/>
        </p:nvSpPr>
        <p:spPr>
          <a:xfrm>
            <a:off x="548640" y="4434840"/>
            <a:ext cx="5486400" cy="274320"/>
          </a:xfrm>
          <a:prstGeom prst="rect">
            <a:avLst/>
          </a:prstGeom>
          <a:noFill/>
          <a:ln/>
        </p:spPr>
        <p:txBody>
          <a:bodyPr wrap="square" lIns="0" tIns="0" rIns="0" bIns="0" rtlCol="0" anchor="ctr"/>
          <a:lstStyle/>
          <a:p>
            <a:pPr indent="0" marL="0">
              <a:buNone/>
            </a:pPr>
            <a:r>
              <a:rPr lang="en-US" sz="1200" i="1" dirty="0">
                <a:solidFill>
                  <a:srgbClr val="5C7077"/>
                </a:solidFill>
                <a:latin typeface="Calibri" pitchFamily="34" charset="0"/>
                <a:ea typeface="Calibri" pitchFamily="34" charset="-122"/>
                <a:cs typeface="Calibri" pitchFamily="34" charset="-120"/>
              </a:rPr>
              <a:t>Educational prototype, not a medical device.</a:t>
            </a:r>
            <a:endParaRPr lang="en-US" sz="1200" dirty="0"/>
          </a:p>
        </p:txBody>
      </p:sp>
      <p:sp>
        <p:nvSpPr>
          <p:cNvPr id="10" name="Text 8"/>
          <p:cNvSpPr txBox="1"/>
          <p:nvPr/>
        </p:nvSpPr>
        <p:spPr>
          <a:xfrm>
            <a:off x="8229600" y="4754880"/>
            <a:ext cx="365760" cy="228600"/>
          </a:xfrm>
          <a:prstGeom prst="rect">
            <a:avLst/>
          </a:prstGeom>
          <a:noFill/>
          <a:ln/>
        </p:spPr>
        <p:txBody>
          <a:bodyPr wrap="square" lIns="0" tIns="0" rIns="0" bIns="0" rtlCol="0" anchor="ctr"/>
          <a:lstStyle/>
          <a:p>
            <a:pPr algn="r" indent="0" marL="0">
              <a:buNone/>
            </a:pPr>
            <a:r>
              <a:rPr lang="en-US" sz="1000" dirty="0">
                <a:solidFill>
                  <a:srgbClr val="5C7077"/>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Pneumonia Detection and Localization</dc:title>
  <dc:subject>PptxGenJS Presentation</dc:subject>
  <dc:creator>PptxGenJS</dc:creator>
  <cp:lastModifiedBy>PptxGenJS</cp:lastModifiedBy>
  <cp:revision>1</cp:revision>
  <dcterms:created xsi:type="dcterms:W3CDTF">2026-10-02T06:58:22Z</dcterms:created>
  <dcterms:modified xsi:type="dcterms:W3CDTF">2026-10-02T06:58:22Z</dcterms:modified>
</cp:coreProperties>
</file>